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259" r:id="rId4"/>
    <p:sldId id="267" r:id="rId5"/>
    <p:sldId id="268" r:id="rId6"/>
    <p:sldId id="260" r:id="rId7"/>
    <p:sldId id="281" r:id="rId8"/>
    <p:sldId id="283" r:id="rId9"/>
    <p:sldId id="261" r:id="rId10"/>
    <p:sldId id="265" r:id="rId11"/>
    <p:sldId id="291" r:id="rId12"/>
    <p:sldId id="286" r:id="rId13"/>
    <p:sldId id="262" r:id="rId14"/>
    <p:sldId id="271" r:id="rId15"/>
    <p:sldId id="293" r:id="rId16"/>
    <p:sldId id="294" r:id="rId17"/>
    <p:sldId id="295" r:id="rId18"/>
    <p:sldId id="296" r:id="rId19"/>
    <p:sldId id="263" r:id="rId20"/>
    <p:sldId id="297" r:id="rId21"/>
    <p:sldId id="298" r:id="rId22"/>
    <p:sldId id="29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A5BF"/>
    <a:srgbClr val="2A3E56"/>
    <a:srgbClr val="768391"/>
    <a:srgbClr val="C7D9DE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18" autoAdjust="0"/>
    <p:restoredTop sz="94660"/>
  </p:normalViewPr>
  <p:slideViewPr>
    <p:cSldViewPr snapToGrid="0">
      <p:cViewPr>
        <p:scale>
          <a:sx n="128" d="100"/>
          <a:sy n="128" d="100"/>
        </p:scale>
        <p:origin x="-48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6" b="1322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6" b="1322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6" name="矩形: 圆角 5"/>
          <p:cNvSpPr/>
          <p:nvPr userDrawn="1"/>
        </p:nvSpPr>
        <p:spPr>
          <a:xfrm>
            <a:off x="292260" y="278785"/>
            <a:ext cx="11607480" cy="6300430"/>
          </a:xfrm>
          <a:prstGeom prst="roundRect">
            <a:avLst>
              <a:gd name="adj" fmla="val 6396"/>
            </a:avLst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ly-arranged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/>
          <p:cNvSpPr/>
          <p:nvPr/>
        </p:nvSpPr>
        <p:spPr>
          <a:xfrm>
            <a:off x="490855" y="693420"/>
            <a:ext cx="11260455" cy="5710555"/>
          </a:xfrm>
          <a:prstGeom prst="roundRect">
            <a:avLst>
              <a:gd name="adj" fmla="val 6396"/>
            </a:avLst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8020" y="1924685"/>
            <a:ext cx="110832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pple LiSung" charset="-120"/>
                <a:cs typeface="+mj-lt"/>
              </a:rPr>
              <a:t>A Revised Deep Learning Semi-parametric Regression for Enhanced Causal Inference with Heterogeneous Treatment Effects</a:t>
            </a:r>
            <a:endParaRPr lang="en-US" altLang="zh-CN" sz="3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Apple LiSung" charset="-120"/>
              <a:cs typeface="+mj-lt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464685" y="4170680"/>
            <a:ext cx="3588385" cy="605790"/>
          </a:xfrm>
          <a:prstGeom prst="roundRect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Georgia Regular" panose="02040502050405090303" charset="0"/>
                <a:ea typeface="Apple LiSung" charset="-120"/>
                <a:cs typeface="Georgia Regular" panose="02040502050405090303" charset="0"/>
              </a:rPr>
              <a:t>Speaker: Shuai Yuan</a:t>
            </a:r>
            <a:endParaRPr lang="en-US" altLang="zh-CN" sz="2400" dirty="0">
              <a:latin typeface="Georgia Regular" panose="02040502050405090303" charset="0"/>
              <a:ea typeface="Apple LiSung" charset="-12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3373532" y="706532"/>
            <a:ext cx="5444936" cy="544493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376937" y="3146133"/>
            <a:ext cx="54381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atin typeface="STSong" panose="02010600040101010101" charset="-122"/>
                <a:ea typeface="STSong" panose="02010600040101010101" charset="-122"/>
                <a:sym typeface="+mn-ea"/>
              </a:rPr>
              <a:t>Background Introduction</a:t>
            </a:r>
            <a:endParaRPr lang="en-US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STSong" panose="02010600040101010101" charset="-122"/>
              <a:ea typeface="STSong" panose="02010600040101010101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83635" y="2499803"/>
            <a:ext cx="14247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 Light" panose="020B0502040204020203" pitchFamily="34" charset="-122"/>
              </a:rPr>
              <a:t>Part 01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09874" y="798291"/>
            <a:ext cx="43053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1.1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3236" y="707244"/>
            <a:ext cx="58108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Background Introduction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087" y="1591945"/>
            <a:ext cx="5932805" cy="40703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86460" y="1472565"/>
            <a:ext cx="5208270" cy="4834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"/>
            </a:pPr>
            <a:r>
              <a:rPr lang="en-US" sz="2000" dirty="0">
                <a:latin typeface="Georgia Regular" panose="02040502050405090303" charset="0"/>
                <a:cs typeface="Georgia Regular" panose="02040502050405090303" charset="0"/>
              </a:rPr>
              <a:t>Heterogeneous Treatment Effect (HTE):</a:t>
            </a: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sz="2000" dirty="0">
              <a:cs typeface="+mn-lt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Batang" panose="02030600000101010101" pitchFamily="18" charset="-127"/>
                <a:cs typeface="DejaVu Math TeX Gyre" panose="02000503000000000000" charset="0"/>
              </a:rPr>
              <a:t>τ(x) = E(Y(1)-Y(0) | X=x)</a:t>
            </a:r>
            <a:endParaRPr lang="en-US" sz="2000" dirty="0">
              <a:latin typeface="Georgia" panose="02040502050405090303" pitchFamily="18" charset="0"/>
              <a:ea typeface="Batang" panose="02030600000101010101" pitchFamily="18" charset="-127"/>
              <a:cs typeface="DejaVu Math TeX Gyre" panose="02000503000000000000" charset="0"/>
            </a:endParaRPr>
          </a:p>
          <a:p>
            <a:endParaRPr lang="en-US" sz="2000" dirty="0">
              <a:latin typeface="DejaVu Math TeX Gyre" panose="02000503000000000000" charset="0"/>
              <a:cs typeface="DejaVu Math TeX Gyre" panose="02000503000000000000" charset="0"/>
            </a:endParaRPr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sz="2000" dirty="0">
                <a:latin typeface="Georgia Regular" panose="02040502050405090303" charset="0"/>
                <a:cs typeface="Georgia Regular" panose="02040502050405090303" charset="0"/>
              </a:rPr>
              <a:t>Why estimating HTE?</a:t>
            </a: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"/>
            </a:pP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 dirty="0">
                <a:latin typeface="Georgia Regular" panose="02040502050405090303" charset="0"/>
                <a:cs typeface="Georgia Regular" panose="02040502050405090303" charset="0"/>
              </a:rPr>
              <a:t>Tailor therapies to individuals or subgroups who benefit most.</a:t>
            </a: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Georgia Regular" panose="02040502050405090303" charset="0"/>
                <a:cs typeface="Georgia Regular" panose="02040502050405090303" charset="0"/>
              </a:rPr>
              <a:t>Challenges:</a:t>
            </a: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 dirty="0">
                <a:latin typeface="Georgia Regular" panose="02040502050405090303" charset="0"/>
                <a:cs typeface="Georgia Regular" panose="02040502050405090303" charset="0"/>
              </a:rPr>
              <a:t>Can only observe Y(1) or Y(0)</a:t>
            </a: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 dirty="0">
                <a:latin typeface="Georgia Regular" panose="02040502050405090303" charset="0"/>
                <a:cs typeface="Georgia Regular" panose="02040502050405090303" charset="0"/>
              </a:rPr>
              <a:t>Confounders</a:t>
            </a: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sz="2000" dirty="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632575" y="5779453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400"/>
              <a:t>Gong, X., Hu, M., Basu, M., &amp; Zhao, L. (2021)</a:t>
            </a:r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57804" y="798291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1.2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09591" y="719293"/>
            <a:ext cx="42646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Background Introduction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8578247" y="2461241"/>
            <a:ext cx="520993" cy="52099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12" name="Oval 17"/>
          <p:cNvSpPr>
            <a:spLocks noChangeArrowheads="1"/>
          </p:cNvSpPr>
          <p:nvPr/>
        </p:nvSpPr>
        <p:spPr bwMode="auto">
          <a:xfrm>
            <a:off x="3101924" y="3925933"/>
            <a:ext cx="511828" cy="5216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th-TH" sz="900"/>
          </a:p>
        </p:txBody>
      </p:sp>
      <p:sp>
        <p:nvSpPr>
          <p:cNvPr id="37" name="Text Box 36"/>
          <p:cNvSpPr txBox="1"/>
          <p:nvPr/>
        </p:nvSpPr>
        <p:spPr>
          <a:xfrm>
            <a:off x="982948" y="1783987"/>
            <a:ext cx="11374152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  <a:sym typeface="+mn-ea"/>
              </a:rPr>
              <a:t>Aim: Estimate treatment effect of lung transplant type on FEV1</a:t>
            </a:r>
            <a:endParaRPr lang="en-US" sz="2000" dirty="0">
              <a:latin typeface="Georgia" panose="02040502050405090303" pitchFamily="18" charset="0"/>
              <a:ea typeface="Apple LiSung" charset="-120"/>
              <a:sym typeface="+mn-ea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Treatment (Z): Bilateral-Lung Transplant vs. Single-Lung Transplant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4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Outcome (Y): Post-transplant Forced Expiratory Volume in 1 second (FEV1)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Confounders(X): Donor’s &amp; Patient’s height, weight, race, gender, age, time ...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indent="0">
              <a:buFont typeface="Arial" panose="020B0704020202020204" pitchFamily="34" charset="0"/>
              <a:buNone/>
            </a:pPr>
            <a:endParaRPr lang="en-US" sz="2000" i="1" dirty="0">
              <a:latin typeface="DejaVu Math TeX Gyre" panose="02000503000000000000" charset="0"/>
              <a:ea typeface="Apple LiSung" charset="-120"/>
              <a:cs typeface="DejaVu Math TeX Gyre" panose="0200050300000000000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3373532" y="706532"/>
            <a:ext cx="5444936" cy="544493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050037" y="3146133"/>
            <a:ext cx="40919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latin typeface="STSong" panose="02010600040101010101" charset="-122"/>
                <a:ea typeface="STSong" panose="02010600040101010101" charset="-122"/>
              </a:rPr>
              <a:t>Research </a:t>
            </a:r>
            <a:r>
              <a:rPr lang="en-US" altLang="zh-CN" sz="4000" b="1" dirty="0">
                <a:solidFill>
                  <a:schemeClr val="tx1"/>
                </a:solidFill>
                <a:latin typeface="STSong" panose="02010600040101010101" charset="-122"/>
                <a:ea typeface="STSong" panose="02010600040101010101" charset="-122"/>
              </a:rPr>
              <a:t>M</a:t>
            </a:r>
            <a:r>
              <a:rPr lang="zh-CN" altLang="en-US" sz="4000" b="1" dirty="0">
                <a:solidFill>
                  <a:schemeClr val="tx1"/>
                </a:solidFill>
                <a:latin typeface="STSong" panose="02010600040101010101" charset="-122"/>
                <a:ea typeface="STSong" panose="02010600040101010101" charset="-122"/>
              </a:rPr>
              <a:t>ethods</a:t>
            </a:r>
            <a:r>
              <a:rPr lang="zh-CN" altLang="en-US" sz="4000" b="1" dirty="0">
                <a:solidFill>
                  <a:srgbClr val="768391"/>
                </a:solidFill>
                <a:latin typeface="STSong" panose="02010600040101010101" charset="-122"/>
                <a:ea typeface="STSong" panose="02010600040101010101" charset="-122"/>
              </a:rPr>
              <a:t> </a:t>
            </a:r>
            <a:endParaRPr lang="zh-CN" altLang="en-US" sz="4000" b="1" dirty="0">
              <a:solidFill>
                <a:srgbClr val="768391"/>
              </a:solidFill>
              <a:latin typeface="STSong" panose="02010600040101010101" charset="-122"/>
              <a:ea typeface="STSong" panose="020106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83635" y="2499803"/>
            <a:ext cx="14247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 Light" panose="020B0502040204020203" pitchFamily="34" charset="-122"/>
              </a:rPr>
              <a:t>Part 02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97695" y="4030440"/>
            <a:ext cx="459660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57804" y="798291"/>
            <a:ext cx="43053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2.1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61110" y="689610"/>
            <a:ext cx="57537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Research method: Weighted-deepTL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Freeform 2"/>
          <p:cNvSpPr/>
          <p:nvPr/>
        </p:nvSpPr>
        <p:spPr bwMode="auto">
          <a:xfrm>
            <a:off x="3331634" y="3736361"/>
            <a:ext cx="2110317" cy="1056216"/>
          </a:xfrm>
          <a:custGeom>
            <a:avLst/>
            <a:gdLst>
              <a:gd name="T0" fmla="*/ 2147483646 w 457"/>
              <a:gd name="T1" fmla="*/ 1699204786 h 229"/>
              <a:gd name="T2" fmla="*/ 1043529987 w 457"/>
              <a:gd name="T3" fmla="*/ 0 h 229"/>
              <a:gd name="T4" fmla="*/ 0 w 457"/>
              <a:gd name="T5" fmla="*/ 0 h 229"/>
              <a:gd name="T6" fmla="*/ 2147483646 w 457"/>
              <a:gd name="T7" fmla="*/ 2147483646 h 229"/>
              <a:gd name="T8" fmla="*/ 2147483646 w 457"/>
              <a:gd name="T9" fmla="*/ 0 h 229"/>
              <a:gd name="T10" fmla="*/ 2147483646 w 457"/>
              <a:gd name="T11" fmla="*/ 0 h 229"/>
              <a:gd name="T12" fmla="*/ 2147483646 w 457"/>
              <a:gd name="T13" fmla="*/ 169920478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7" h="229">
                <a:moveTo>
                  <a:pt x="228" y="142"/>
                </a:moveTo>
                <a:cubicBezTo>
                  <a:pt x="150" y="142"/>
                  <a:pt x="87" y="78"/>
                  <a:pt x="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26"/>
                  <a:pt x="102" y="229"/>
                  <a:pt x="228" y="229"/>
                </a:cubicBezTo>
                <a:cubicBezTo>
                  <a:pt x="355" y="229"/>
                  <a:pt x="457" y="126"/>
                  <a:pt x="457" y="0"/>
                </a:cubicBezTo>
                <a:cubicBezTo>
                  <a:pt x="370" y="0"/>
                  <a:pt x="370" y="0"/>
                  <a:pt x="370" y="0"/>
                </a:cubicBezTo>
                <a:cubicBezTo>
                  <a:pt x="370" y="78"/>
                  <a:pt x="307" y="142"/>
                  <a:pt x="228" y="142"/>
                </a:cubicBezTo>
                <a:close/>
              </a:path>
            </a:pathLst>
          </a:custGeom>
          <a:solidFill>
            <a:srgbClr val="58A5BF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Freeform 3"/>
          <p:cNvSpPr/>
          <p:nvPr/>
        </p:nvSpPr>
        <p:spPr bwMode="auto">
          <a:xfrm>
            <a:off x="5039785" y="2680145"/>
            <a:ext cx="2112433" cy="1056217"/>
          </a:xfrm>
          <a:custGeom>
            <a:avLst/>
            <a:gdLst>
              <a:gd name="T0" fmla="*/ 2147483646 w 458"/>
              <a:gd name="T1" fmla="*/ 1041064766 h 229"/>
              <a:gd name="T2" fmla="*/ 2147483646 w 458"/>
              <a:gd name="T3" fmla="*/ 2147483646 h 229"/>
              <a:gd name="T4" fmla="*/ 2147483646 w 458"/>
              <a:gd name="T5" fmla="*/ 2147483646 h 229"/>
              <a:gd name="T6" fmla="*/ 2147483646 w 458"/>
              <a:gd name="T7" fmla="*/ 0 h 229"/>
              <a:gd name="T8" fmla="*/ 0 w 458"/>
              <a:gd name="T9" fmla="*/ 2147483646 h 229"/>
              <a:gd name="T10" fmla="*/ 1041064109 w 458"/>
              <a:gd name="T11" fmla="*/ 2147483646 h 229"/>
              <a:gd name="T12" fmla="*/ 2147483646 w 458"/>
              <a:gd name="T13" fmla="*/ 104106476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8" h="229">
                <a:moveTo>
                  <a:pt x="229" y="87"/>
                </a:moveTo>
                <a:cubicBezTo>
                  <a:pt x="307" y="87"/>
                  <a:pt x="371" y="151"/>
                  <a:pt x="371" y="229"/>
                </a:cubicBezTo>
                <a:cubicBezTo>
                  <a:pt x="458" y="229"/>
                  <a:pt x="458" y="229"/>
                  <a:pt x="458" y="229"/>
                </a:cubicBezTo>
                <a:cubicBezTo>
                  <a:pt x="458" y="103"/>
                  <a:pt x="355" y="0"/>
                  <a:pt x="229" y="0"/>
                </a:cubicBezTo>
                <a:cubicBezTo>
                  <a:pt x="103" y="0"/>
                  <a:pt x="0" y="103"/>
                  <a:pt x="0" y="229"/>
                </a:cubicBezTo>
                <a:cubicBezTo>
                  <a:pt x="87" y="229"/>
                  <a:pt x="87" y="229"/>
                  <a:pt x="87" y="229"/>
                </a:cubicBezTo>
                <a:cubicBezTo>
                  <a:pt x="87" y="151"/>
                  <a:pt x="151" y="87"/>
                  <a:pt x="229" y="87"/>
                </a:cubicBezTo>
                <a:close/>
              </a:path>
            </a:pathLst>
          </a:custGeom>
          <a:solidFill>
            <a:srgbClr val="2A3E5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Freeform 4"/>
          <p:cNvSpPr/>
          <p:nvPr/>
        </p:nvSpPr>
        <p:spPr bwMode="auto">
          <a:xfrm>
            <a:off x="6750051" y="3736361"/>
            <a:ext cx="2110316" cy="1056216"/>
          </a:xfrm>
          <a:custGeom>
            <a:avLst/>
            <a:gdLst>
              <a:gd name="T0" fmla="*/ 2147483646 w 457"/>
              <a:gd name="T1" fmla="*/ 1699204786 h 229"/>
              <a:gd name="T2" fmla="*/ 1031532389 w 457"/>
              <a:gd name="T3" fmla="*/ 0 h 229"/>
              <a:gd name="T4" fmla="*/ 0 w 457"/>
              <a:gd name="T5" fmla="*/ 0 h 229"/>
              <a:gd name="T6" fmla="*/ 2147483646 w 457"/>
              <a:gd name="T7" fmla="*/ 2147483646 h 229"/>
              <a:gd name="T8" fmla="*/ 2147483646 w 457"/>
              <a:gd name="T9" fmla="*/ 0 h 229"/>
              <a:gd name="T10" fmla="*/ 2147483646 w 457"/>
              <a:gd name="T11" fmla="*/ 0 h 229"/>
              <a:gd name="T12" fmla="*/ 2147483646 w 457"/>
              <a:gd name="T13" fmla="*/ 1699204786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7" h="229">
                <a:moveTo>
                  <a:pt x="228" y="142"/>
                </a:moveTo>
                <a:cubicBezTo>
                  <a:pt x="150" y="142"/>
                  <a:pt x="86" y="78"/>
                  <a:pt x="8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26"/>
                  <a:pt x="102" y="229"/>
                  <a:pt x="228" y="229"/>
                </a:cubicBezTo>
                <a:cubicBezTo>
                  <a:pt x="355" y="229"/>
                  <a:pt x="457" y="126"/>
                  <a:pt x="457" y="0"/>
                </a:cubicBezTo>
                <a:cubicBezTo>
                  <a:pt x="370" y="0"/>
                  <a:pt x="370" y="0"/>
                  <a:pt x="370" y="0"/>
                </a:cubicBezTo>
                <a:cubicBezTo>
                  <a:pt x="370" y="78"/>
                  <a:pt x="307" y="142"/>
                  <a:pt x="228" y="142"/>
                </a:cubicBezTo>
                <a:close/>
              </a:path>
            </a:pathLst>
          </a:custGeom>
          <a:solidFill>
            <a:srgbClr val="58A5BF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Freeform 5"/>
          <p:cNvSpPr/>
          <p:nvPr/>
        </p:nvSpPr>
        <p:spPr bwMode="auto">
          <a:xfrm>
            <a:off x="1621368" y="2680144"/>
            <a:ext cx="2112433" cy="1255184"/>
          </a:xfrm>
          <a:custGeom>
            <a:avLst/>
            <a:gdLst>
              <a:gd name="T0" fmla="*/ 2147483646 w 458"/>
              <a:gd name="T1" fmla="*/ 0 h 272"/>
              <a:gd name="T2" fmla="*/ 0 w 458"/>
              <a:gd name="T3" fmla="*/ 2147483646 h 272"/>
              <a:gd name="T4" fmla="*/ 526514784 w 458"/>
              <a:gd name="T5" fmla="*/ 2147483646 h 272"/>
              <a:gd name="T6" fmla="*/ 1041064109 w 458"/>
              <a:gd name="T7" fmla="*/ 2147483646 h 272"/>
              <a:gd name="T8" fmla="*/ 2147483646 w 458"/>
              <a:gd name="T9" fmla="*/ 1042123438 h 272"/>
              <a:gd name="T10" fmla="*/ 2147483646 w 458"/>
              <a:gd name="T11" fmla="*/ 2147483646 h 272"/>
              <a:gd name="T12" fmla="*/ 2147483646 w 458"/>
              <a:gd name="T13" fmla="*/ 2147483646 h 272"/>
              <a:gd name="T14" fmla="*/ 2147483646 w 458"/>
              <a:gd name="T15" fmla="*/ 0 h 27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58" h="272">
                <a:moveTo>
                  <a:pt x="229" y="0"/>
                </a:moveTo>
                <a:cubicBezTo>
                  <a:pt x="103" y="0"/>
                  <a:pt x="0" y="103"/>
                  <a:pt x="0" y="229"/>
                </a:cubicBezTo>
                <a:cubicBezTo>
                  <a:pt x="0" y="253"/>
                  <a:pt x="20" y="272"/>
                  <a:pt x="44" y="272"/>
                </a:cubicBezTo>
                <a:cubicBezTo>
                  <a:pt x="68" y="272"/>
                  <a:pt x="87" y="253"/>
                  <a:pt x="87" y="229"/>
                </a:cubicBezTo>
                <a:cubicBezTo>
                  <a:pt x="87" y="151"/>
                  <a:pt x="151" y="87"/>
                  <a:pt x="229" y="87"/>
                </a:cubicBezTo>
                <a:cubicBezTo>
                  <a:pt x="307" y="87"/>
                  <a:pt x="371" y="151"/>
                  <a:pt x="371" y="229"/>
                </a:cubicBezTo>
                <a:cubicBezTo>
                  <a:pt x="458" y="229"/>
                  <a:pt x="458" y="229"/>
                  <a:pt x="458" y="229"/>
                </a:cubicBezTo>
                <a:cubicBezTo>
                  <a:pt x="458" y="103"/>
                  <a:pt x="355" y="0"/>
                  <a:pt x="229" y="0"/>
                </a:cubicBezTo>
                <a:close/>
              </a:path>
            </a:pathLst>
          </a:custGeom>
          <a:solidFill>
            <a:srgbClr val="2A3E5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Freeform 6"/>
          <p:cNvSpPr/>
          <p:nvPr/>
        </p:nvSpPr>
        <p:spPr bwMode="auto">
          <a:xfrm>
            <a:off x="8458201" y="2680144"/>
            <a:ext cx="2112433" cy="1255184"/>
          </a:xfrm>
          <a:custGeom>
            <a:avLst/>
            <a:gdLst>
              <a:gd name="T0" fmla="*/ 2147483646 w 458"/>
              <a:gd name="T1" fmla="*/ 0 h 272"/>
              <a:gd name="T2" fmla="*/ 0 w 458"/>
              <a:gd name="T3" fmla="*/ 2147483646 h 272"/>
              <a:gd name="T4" fmla="*/ 1041064109 w 458"/>
              <a:gd name="T5" fmla="*/ 2147483646 h 272"/>
              <a:gd name="T6" fmla="*/ 2147483646 w 458"/>
              <a:gd name="T7" fmla="*/ 1042123438 h 272"/>
              <a:gd name="T8" fmla="*/ 2147483646 w 458"/>
              <a:gd name="T9" fmla="*/ 2147483646 h 272"/>
              <a:gd name="T10" fmla="*/ 2147483646 w 458"/>
              <a:gd name="T11" fmla="*/ 2147483646 h 272"/>
              <a:gd name="T12" fmla="*/ 2147483646 w 458"/>
              <a:gd name="T13" fmla="*/ 2147483646 h 272"/>
              <a:gd name="T14" fmla="*/ 2147483646 w 458"/>
              <a:gd name="T15" fmla="*/ 0 h 27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58" h="272">
                <a:moveTo>
                  <a:pt x="229" y="0"/>
                </a:moveTo>
                <a:cubicBezTo>
                  <a:pt x="103" y="0"/>
                  <a:pt x="0" y="103"/>
                  <a:pt x="0" y="229"/>
                </a:cubicBezTo>
                <a:cubicBezTo>
                  <a:pt x="87" y="229"/>
                  <a:pt x="87" y="229"/>
                  <a:pt x="87" y="229"/>
                </a:cubicBezTo>
                <a:cubicBezTo>
                  <a:pt x="87" y="151"/>
                  <a:pt x="151" y="87"/>
                  <a:pt x="229" y="87"/>
                </a:cubicBezTo>
                <a:cubicBezTo>
                  <a:pt x="307" y="87"/>
                  <a:pt x="371" y="151"/>
                  <a:pt x="371" y="229"/>
                </a:cubicBezTo>
                <a:cubicBezTo>
                  <a:pt x="371" y="253"/>
                  <a:pt x="390" y="272"/>
                  <a:pt x="414" y="272"/>
                </a:cubicBezTo>
                <a:cubicBezTo>
                  <a:pt x="438" y="272"/>
                  <a:pt x="458" y="253"/>
                  <a:pt x="458" y="229"/>
                </a:cubicBezTo>
                <a:cubicBezTo>
                  <a:pt x="458" y="103"/>
                  <a:pt x="355" y="0"/>
                  <a:pt x="229" y="0"/>
                </a:cubicBezTo>
                <a:close/>
              </a:path>
            </a:pathLst>
          </a:custGeom>
          <a:solidFill>
            <a:srgbClr val="2A3E5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12" name="Group 7"/>
          <p:cNvGrpSpPr/>
          <p:nvPr/>
        </p:nvGrpSpPr>
        <p:grpSpPr bwMode="auto">
          <a:xfrm>
            <a:off x="2482851" y="3486595"/>
            <a:ext cx="389467" cy="499533"/>
            <a:chOff x="0" y="0"/>
            <a:chExt cx="184" cy="236"/>
          </a:xfrm>
          <a:solidFill>
            <a:srgbClr val="2A3E56"/>
          </a:solidFill>
        </p:grpSpPr>
        <p:sp>
          <p:nvSpPr>
            <p:cNvPr id="13" name="Freeform 8"/>
            <p:cNvSpPr/>
            <p:nvPr/>
          </p:nvSpPr>
          <p:spPr bwMode="auto">
            <a:xfrm>
              <a:off x="0" y="0"/>
              <a:ext cx="184" cy="236"/>
            </a:xfrm>
            <a:custGeom>
              <a:avLst/>
              <a:gdLst>
                <a:gd name="T0" fmla="*/ 92 w 84"/>
                <a:gd name="T1" fmla="*/ 468 h 108"/>
                <a:gd name="T2" fmla="*/ 48 w 84"/>
                <a:gd name="T3" fmla="*/ 468 h 108"/>
                <a:gd name="T4" fmla="*/ 48 w 84"/>
                <a:gd name="T5" fmla="*/ 44 h 108"/>
                <a:gd name="T6" fmla="*/ 379 w 84"/>
                <a:gd name="T7" fmla="*/ 44 h 108"/>
                <a:gd name="T8" fmla="*/ 403 w 84"/>
                <a:gd name="T9" fmla="*/ 24 h 108"/>
                <a:gd name="T10" fmla="*/ 379 w 84"/>
                <a:gd name="T11" fmla="*/ 0 h 108"/>
                <a:gd name="T12" fmla="*/ 24 w 84"/>
                <a:gd name="T13" fmla="*/ 0 h 108"/>
                <a:gd name="T14" fmla="*/ 0 w 84"/>
                <a:gd name="T15" fmla="*/ 24 h 108"/>
                <a:gd name="T16" fmla="*/ 0 w 84"/>
                <a:gd name="T17" fmla="*/ 492 h 108"/>
                <a:gd name="T18" fmla="*/ 24 w 84"/>
                <a:gd name="T19" fmla="*/ 516 h 108"/>
                <a:gd name="T20" fmla="*/ 92 w 84"/>
                <a:gd name="T21" fmla="*/ 516 h 108"/>
                <a:gd name="T22" fmla="*/ 110 w 84"/>
                <a:gd name="T23" fmla="*/ 492 h 108"/>
                <a:gd name="T24" fmla="*/ 92 w 84"/>
                <a:gd name="T25" fmla="*/ 468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4" h="108">
                  <a:moveTo>
                    <a:pt x="19" y="98"/>
                  </a:moveTo>
                  <a:cubicBezTo>
                    <a:pt x="10" y="98"/>
                    <a:pt x="10" y="98"/>
                    <a:pt x="10" y="9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82" y="9"/>
                    <a:pt x="84" y="7"/>
                    <a:pt x="84" y="5"/>
                  </a:cubicBezTo>
                  <a:cubicBezTo>
                    <a:pt x="84" y="2"/>
                    <a:pt x="82" y="0"/>
                    <a:pt x="7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6"/>
                    <a:pt x="3" y="108"/>
                    <a:pt x="5" y="108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21" y="108"/>
                    <a:pt x="23" y="106"/>
                    <a:pt x="23" y="103"/>
                  </a:cubicBezTo>
                  <a:cubicBezTo>
                    <a:pt x="23" y="100"/>
                    <a:pt x="21" y="98"/>
                    <a:pt x="19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" name="Freeform 9"/>
            <p:cNvSpPr/>
            <p:nvPr/>
          </p:nvSpPr>
          <p:spPr bwMode="auto">
            <a:xfrm>
              <a:off x="116" y="138"/>
              <a:ext cx="68" cy="98"/>
            </a:xfrm>
            <a:custGeom>
              <a:avLst/>
              <a:gdLst>
                <a:gd name="T0" fmla="*/ 125 w 31"/>
                <a:gd name="T1" fmla="*/ 0 h 45"/>
                <a:gd name="T2" fmla="*/ 101 w 31"/>
                <a:gd name="T3" fmla="*/ 24 h 45"/>
                <a:gd name="T4" fmla="*/ 101 w 31"/>
                <a:gd name="T5" fmla="*/ 166 h 45"/>
                <a:gd name="T6" fmla="*/ 20 w 31"/>
                <a:gd name="T7" fmla="*/ 166 h 45"/>
                <a:gd name="T8" fmla="*/ 0 w 31"/>
                <a:gd name="T9" fmla="*/ 189 h 45"/>
                <a:gd name="T10" fmla="*/ 20 w 31"/>
                <a:gd name="T11" fmla="*/ 213 h 45"/>
                <a:gd name="T12" fmla="*/ 125 w 31"/>
                <a:gd name="T13" fmla="*/ 213 h 45"/>
                <a:gd name="T14" fmla="*/ 140 w 31"/>
                <a:gd name="T15" fmla="*/ 205 h 45"/>
                <a:gd name="T16" fmla="*/ 149 w 31"/>
                <a:gd name="T17" fmla="*/ 189 h 45"/>
                <a:gd name="T18" fmla="*/ 149 w 31"/>
                <a:gd name="T19" fmla="*/ 24 h 45"/>
                <a:gd name="T20" fmla="*/ 125 w 31"/>
                <a:gd name="T21" fmla="*/ 0 h 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" h="45">
                  <a:moveTo>
                    <a:pt x="26" y="0"/>
                  </a:moveTo>
                  <a:cubicBezTo>
                    <a:pt x="23" y="0"/>
                    <a:pt x="21" y="2"/>
                    <a:pt x="21" y="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0" y="37"/>
                    <a:pt x="0" y="40"/>
                  </a:cubicBezTo>
                  <a:cubicBezTo>
                    <a:pt x="0" y="43"/>
                    <a:pt x="2" y="45"/>
                    <a:pt x="4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7" y="45"/>
                    <a:pt x="28" y="44"/>
                    <a:pt x="29" y="43"/>
                  </a:cubicBezTo>
                  <a:cubicBezTo>
                    <a:pt x="30" y="42"/>
                    <a:pt x="31" y="41"/>
                    <a:pt x="31" y="40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2"/>
                    <a:pt x="29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" name="Freeform 10"/>
            <p:cNvSpPr>
              <a:spLocks noEditPoints="1"/>
            </p:cNvSpPr>
            <p:nvPr/>
          </p:nvSpPr>
          <p:spPr bwMode="auto">
            <a:xfrm>
              <a:off x="66" y="51"/>
              <a:ext cx="113" cy="163"/>
            </a:xfrm>
            <a:custGeom>
              <a:avLst/>
              <a:gdLst>
                <a:gd name="T0" fmla="*/ 213 w 52"/>
                <a:gd name="T1" fmla="*/ 4 h 75"/>
                <a:gd name="T2" fmla="*/ 189 w 52"/>
                <a:gd name="T3" fmla="*/ 0 h 75"/>
                <a:gd name="T4" fmla="*/ 141 w 52"/>
                <a:gd name="T5" fmla="*/ 24 h 75"/>
                <a:gd name="T6" fmla="*/ 4 w 52"/>
                <a:gd name="T7" fmla="*/ 269 h 75"/>
                <a:gd name="T8" fmla="*/ 0 w 52"/>
                <a:gd name="T9" fmla="*/ 278 h 75"/>
                <a:gd name="T10" fmla="*/ 0 w 52"/>
                <a:gd name="T11" fmla="*/ 335 h 75"/>
                <a:gd name="T12" fmla="*/ 15 w 52"/>
                <a:gd name="T13" fmla="*/ 354 h 75"/>
                <a:gd name="T14" fmla="*/ 24 w 52"/>
                <a:gd name="T15" fmla="*/ 354 h 75"/>
                <a:gd name="T16" fmla="*/ 33 w 52"/>
                <a:gd name="T17" fmla="*/ 354 h 75"/>
                <a:gd name="T18" fmla="*/ 85 w 52"/>
                <a:gd name="T19" fmla="*/ 326 h 75"/>
                <a:gd name="T20" fmla="*/ 89 w 52"/>
                <a:gd name="T21" fmla="*/ 317 h 75"/>
                <a:gd name="T22" fmla="*/ 230 w 52"/>
                <a:gd name="T23" fmla="*/ 76 h 75"/>
                <a:gd name="T24" fmla="*/ 213 w 52"/>
                <a:gd name="T25" fmla="*/ 4 h 75"/>
                <a:gd name="T26" fmla="*/ 193 w 52"/>
                <a:gd name="T27" fmla="*/ 52 h 75"/>
                <a:gd name="T28" fmla="*/ 56 w 52"/>
                <a:gd name="T29" fmla="*/ 293 h 75"/>
                <a:gd name="T30" fmla="*/ 43 w 52"/>
                <a:gd name="T31" fmla="*/ 298 h 75"/>
                <a:gd name="T32" fmla="*/ 43 w 52"/>
                <a:gd name="T33" fmla="*/ 283 h 75"/>
                <a:gd name="T34" fmla="*/ 180 w 52"/>
                <a:gd name="T35" fmla="*/ 48 h 75"/>
                <a:gd name="T36" fmla="*/ 193 w 52"/>
                <a:gd name="T37" fmla="*/ 43 h 75"/>
                <a:gd name="T38" fmla="*/ 193 w 52"/>
                <a:gd name="T39" fmla="*/ 52 h 7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2" h="75">
                  <a:moveTo>
                    <a:pt x="45" y="1"/>
                  </a:moveTo>
                  <a:cubicBezTo>
                    <a:pt x="44" y="0"/>
                    <a:pt x="42" y="0"/>
                    <a:pt x="40" y="0"/>
                  </a:cubicBezTo>
                  <a:cubicBezTo>
                    <a:pt x="36" y="0"/>
                    <a:pt x="32" y="2"/>
                    <a:pt x="30" y="5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2"/>
                    <a:pt x="1" y="74"/>
                    <a:pt x="3" y="75"/>
                  </a:cubicBezTo>
                  <a:cubicBezTo>
                    <a:pt x="3" y="75"/>
                    <a:pt x="4" y="75"/>
                    <a:pt x="5" y="75"/>
                  </a:cubicBezTo>
                  <a:cubicBezTo>
                    <a:pt x="6" y="75"/>
                    <a:pt x="7" y="75"/>
                    <a:pt x="7" y="75"/>
                  </a:cubicBezTo>
                  <a:cubicBezTo>
                    <a:pt x="18" y="69"/>
                    <a:pt x="18" y="69"/>
                    <a:pt x="18" y="69"/>
                  </a:cubicBezTo>
                  <a:cubicBezTo>
                    <a:pt x="18" y="69"/>
                    <a:pt x="19" y="68"/>
                    <a:pt x="19" y="67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2" y="11"/>
                    <a:pt x="50" y="4"/>
                    <a:pt x="45" y="1"/>
                  </a:cubicBezTo>
                  <a:close/>
                  <a:moveTo>
                    <a:pt x="41" y="11"/>
                  </a:moveTo>
                  <a:cubicBezTo>
                    <a:pt x="12" y="62"/>
                    <a:pt x="12" y="62"/>
                    <a:pt x="12" y="62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9" y="9"/>
                    <a:pt x="40" y="9"/>
                    <a:pt x="41" y="9"/>
                  </a:cubicBezTo>
                  <a:cubicBezTo>
                    <a:pt x="41" y="10"/>
                    <a:pt x="42" y="11"/>
                    <a:pt x="4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6" name="Freeform 11"/>
            <p:cNvSpPr/>
            <p:nvPr/>
          </p:nvSpPr>
          <p:spPr bwMode="auto">
            <a:xfrm>
              <a:off x="35" y="68"/>
              <a:ext cx="70" cy="20"/>
            </a:xfrm>
            <a:custGeom>
              <a:avLst/>
              <a:gdLst>
                <a:gd name="T0" fmla="*/ 153 w 32"/>
                <a:gd name="T1" fmla="*/ 20 h 9"/>
                <a:gd name="T2" fmla="*/ 133 w 32"/>
                <a:gd name="T3" fmla="*/ 0 h 9"/>
                <a:gd name="T4" fmla="*/ 20 w 32"/>
                <a:gd name="T5" fmla="*/ 0 h 9"/>
                <a:gd name="T6" fmla="*/ 0 w 32"/>
                <a:gd name="T7" fmla="*/ 20 h 9"/>
                <a:gd name="T8" fmla="*/ 20 w 32"/>
                <a:gd name="T9" fmla="*/ 44 h 9"/>
                <a:gd name="T10" fmla="*/ 133 w 32"/>
                <a:gd name="T11" fmla="*/ 44 h 9"/>
                <a:gd name="T12" fmla="*/ 153 w 32"/>
                <a:gd name="T13" fmla="*/ 2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9">
                  <a:moveTo>
                    <a:pt x="32" y="4"/>
                  </a:moveTo>
                  <a:cubicBezTo>
                    <a:pt x="32" y="2"/>
                    <a:pt x="30" y="0"/>
                    <a:pt x="2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0" y="9"/>
                    <a:pt x="32" y="7"/>
                    <a:pt x="3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" name="Freeform 12"/>
            <p:cNvSpPr/>
            <p:nvPr/>
          </p:nvSpPr>
          <p:spPr bwMode="auto">
            <a:xfrm>
              <a:off x="35" y="107"/>
              <a:ext cx="46" cy="20"/>
            </a:xfrm>
            <a:custGeom>
              <a:avLst/>
              <a:gdLst>
                <a:gd name="T0" fmla="*/ 20 w 21"/>
                <a:gd name="T1" fmla="*/ 0 h 9"/>
                <a:gd name="T2" fmla="*/ 0 w 21"/>
                <a:gd name="T3" fmla="*/ 20 h 9"/>
                <a:gd name="T4" fmla="*/ 20 w 21"/>
                <a:gd name="T5" fmla="*/ 44 h 9"/>
                <a:gd name="T6" fmla="*/ 77 w 21"/>
                <a:gd name="T7" fmla="*/ 44 h 9"/>
                <a:gd name="T8" fmla="*/ 101 w 21"/>
                <a:gd name="T9" fmla="*/ 20 h 9"/>
                <a:gd name="T10" fmla="*/ 77 w 21"/>
                <a:gd name="T11" fmla="*/ 0 h 9"/>
                <a:gd name="T12" fmla="*/ 20 w 21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9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9" y="9"/>
                    <a:pt x="21" y="7"/>
                    <a:pt x="21" y="4"/>
                  </a:cubicBezTo>
                  <a:cubicBezTo>
                    <a:pt x="21" y="2"/>
                    <a:pt x="19" y="0"/>
                    <a:pt x="16" y="0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18" name="Group 13"/>
          <p:cNvGrpSpPr/>
          <p:nvPr/>
        </p:nvGrpSpPr>
        <p:grpSpPr bwMode="auto">
          <a:xfrm>
            <a:off x="7558618" y="3486595"/>
            <a:ext cx="493183" cy="499533"/>
            <a:chOff x="0" y="0"/>
            <a:chExt cx="233" cy="236"/>
          </a:xfrm>
          <a:solidFill>
            <a:srgbClr val="58A5BF"/>
          </a:solidFill>
        </p:grpSpPr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0" y="0"/>
              <a:ext cx="233" cy="236"/>
            </a:xfrm>
            <a:custGeom>
              <a:avLst/>
              <a:gdLst>
                <a:gd name="T0" fmla="*/ 488 w 107"/>
                <a:gd name="T1" fmla="*/ 201 h 108"/>
                <a:gd name="T2" fmla="*/ 442 w 107"/>
                <a:gd name="T3" fmla="*/ 166 h 108"/>
                <a:gd name="T4" fmla="*/ 459 w 107"/>
                <a:gd name="T5" fmla="*/ 105 h 108"/>
                <a:gd name="T6" fmla="*/ 379 w 107"/>
                <a:gd name="T7" fmla="*/ 48 h 108"/>
                <a:gd name="T8" fmla="*/ 322 w 107"/>
                <a:gd name="T9" fmla="*/ 57 h 108"/>
                <a:gd name="T10" fmla="*/ 294 w 107"/>
                <a:gd name="T11" fmla="*/ 4 h 108"/>
                <a:gd name="T12" fmla="*/ 198 w 107"/>
                <a:gd name="T13" fmla="*/ 20 h 108"/>
                <a:gd name="T14" fmla="*/ 161 w 107"/>
                <a:gd name="T15" fmla="*/ 68 h 108"/>
                <a:gd name="T16" fmla="*/ 105 w 107"/>
                <a:gd name="T17" fmla="*/ 52 h 108"/>
                <a:gd name="T18" fmla="*/ 48 w 107"/>
                <a:gd name="T19" fmla="*/ 129 h 108"/>
                <a:gd name="T20" fmla="*/ 57 w 107"/>
                <a:gd name="T21" fmla="*/ 186 h 108"/>
                <a:gd name="T22" fmla="*/ 0 w 107"/>
                <a:gd name="T23" fmla="*/ 221 h 108"/>
                <a:gd name="T24" fmla="*/ 0 w 107"/>
                <a:gd name="T25" fmla="*/ 295 h 108"/>
                <a:gd name="T26" fmla="*/ 57 w 107"/>
                <a:gd name="T27" fmla="*/ 330 h 108"/>
                <a:gd name="T28" fmla="*/ 48 w 107"/>
                <a:gd name="T29" fmla="*/ 387 h 108"/>
                <a:gd name="T30" fmla="*/ 105 w 107"/>
                <a:gd name="T31" fmla="*/ 463 h 108"/>
                <a:gd name="T32" fmla="*/ 161 w 107"/>
                <a:gd name="T33" fmla="*/ 448 h 108"/>
                <a:gd name="T34" fmla="*/ 198 w 107"/>
                <a:gd name="T35" fmla="*/ 496 h 108"/>
                <a:gd name="T36" fmla="*/ 250 w 107"/>
                <a:gd name="T37" fmla="*/ 516 h 108"/>
                <a:gd name="T38" fmla="*/ 309 w 107"/>
                <a:gd name="T39" fmla="*/ 496 h 108"/>
                <a:gd name="T40" fmla="*/ 342 w 107"/>
                <a:gd name="T41" fmla="*/ 448 h 108"/>
                <a:gd name="T42" fmla="*/ 403 w 107"/>
                <a:gd name="T43" fmla="*/ 463 h 108"/>
                <a:gd name="T44" fmla="*/ 459 w 107"/>
                <a:gd name="T45" fmla="*/ 387 h 108"/>
                <a:gd name="T46" fmla="*/ 451 w 107"/>
                <a:gd name="T47" fmla="*/ 330 h 108"/>
                <a:gd name="T48" fmla="*/ 503 w 107"/>
                <a:gd name="T49" fmla="*/ 295 h 108"/>
                <a:gd name="T50" fmla="*/ 503 w 107"/>
                <a:gd name="T51" fmla="*/ 221 h 108"/>
                <a:gd name="T52" fmla="*/ 427 w 107"/>
                <a:gd name="T53" fmla="*/ 291 h 108"/>
                <a:gd name="T54" fmla="*/ 398 w 107"/>
                <a:gd name="T55" fmla="*/ 339 h 108"/>
                <a:gd name="T56" fmla="*/ 418 w 107"/>
                <a:gd name="T57" fmla="*/ 391 h 108"/>
                <a:gd name="T58" fmla="*/ 351 w 107"/>
                <a:gd name="T59" fmla="*/ 402 h 108"/>
                <a:gd name="T60" fmla="*/ 298 w 107"/>
                <a:gd name="T61" fmla="*/ 415 h 108"/>
                <a:gd name="T62" fmla="*/ 270 w 107"/>
                <a:gd name="T63" fmla="*/ 468 h 108"/>
                <a:gd name="T64" fmla="*/ 222 w 107"/>
                <a:gd name="T65" fmla="*/ 430 h 108"/>
                <a:gd name="T66" fmla="*/ 176 w 107"/>
                <a:gd name="T67" fmla="*/ 406 h 108"/>
                <a:gd name="T68" fmla="*/ 118 w 107"/>
                <a:gd name="T69" fmla="*/ 420 h 108"/>
                <a:gd name="T70" fmla="*/ 109 w 107"/>
                <a:gd name="T71" fmla="*/ 358 h 108"/>
                <a:gd name="T72" fmla="*/ 96 w 107"/>
                <a:gd name="T73" fmla="*/ 306 h 108"/>
                <a:gd name="T74" fmla="*/ 44 w 107"/>
                <a:gd name="T75" fmla="*/ 278 h 108"/>
                <a:gd name="T76" fmla="*/ 44 w 107"/>
                <a:gd name="T77" fmla="*/ 238 h 108"/>
                <a:gd name="T78" fmla="*/ 96 w 107"/>
                <a:gd name="T79" fmla="*/ 210 h 108"/>
                <a:gd name="T80" fmla="*/ 109 w 107"/>
                <a:gd name="T81" fmla="*/ 157 h 108"/>
                <a:gd name="T82" fmla="*/ 118 w 107"/>
                <a:gd name="T83" fmla="*/ 96 h 108"/>
                <a:gd name="T84" fmla="*/ 176 w 107"/>
                <a:gd name="T85" fmla="*/ 109 h 108"/>
                <a:gd name="T86" fmla="*/ 222 w 107"/>
                <a:gd name="T87" fmla="*/ 85 h 108"/>
                <a:gd name="T88" fmla="*/ 270 w 107"/>
                <a:gd name="T89" fmla="*/ 48 h 108"/>
                <a:gd name="T90" fmla="*/ 298 w 107"/>
                <a:gd name="T91" fmla="*/ 101 h 108"/>
                <a:gd name="T92" fmla="*/ 351 w 107"/>
                <a:gd name="T93" fmla="*/ 109 h 108"/>
                <a:gd name="T94" fmla="*/ 418 w 107"/>
                <a:gd name="T95" fmla="*/ 125 h 108"/>
                <a:gd name="T96" fmla="*/ 398 w 107"/>
                <a:gd name="T97" fmla="*/ 177 h 108"/>
                <a:gd name="T98" fmla="*/ 427 w 107"/>
                <a:gd name="T99" fmla="*/ 225 h 108"/>
                <a:gd name="T100" fmla="*/ 464 w 107"/>
                <a:gd name="T101" fmla="*/ 258 h 10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07" h="108">
                  <a:moveTo>
                    <a:pt x="106" y="46"/>
                  </a:moveTo>
                  <a:cubicBezTo>
                    <a:pt x="106" y="44"/>
                    <a:pt x="105" y="43"/>
                    <a:pt x="103" y="42"/>
                  </a:cubicBezTo>
                  <a:cubicBezTo>
                    <a:pt x="95" y="39"/>
                    <a:pt x="95" y="39"/>
                    <a:pt x="95" y="39"/>
                  </a:cubicBezTo>
                  <a:cubicBezTo>
                    <a:pt x="94" y="38"/>
                    <a:pt x="94" y="36"/>
                    <a:pt x="93" y="35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98" y="25"/>
                    <a:pt x="98" y="24"/>
                    <a:pt x="97" y="22"/>
                  </a:cubicBezTo>
                  <a:cubicBezTo>
                    <a:pt x="93" y="18"/>
                    <a:pt x="89" y="14"/>
                    <a:pt x="85" y="11"/>
                  </a:cubicBezTo>
                  <a:cubicBezTo>
                    <a:pt x="84" y="10"/>
                    <a:pt x="82" y="10"/>
                    <a:pt x="80" y="10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1" y="14"/>
                    <a:pt x="70" y="13"/>
                    <a:pt x="68" y="1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2"/>
                    <a:pt x="63" y="1"/>
                    <a:pt x="62" y="1"/>
                  </a:cubicBezTo>
                  <a:cubicBezTo>
                    <a:pt x="56" y="0"/>
                    <a:pt x="51" y="0"/>
                    <a:pt x="45" y="1"/>
                  </a:cubicBezTo>
                  <a:cubicBezTo>
                    <a:pt x="44" y="1"/>
                    <a:pt x="42" y="2"/>
                    <a:pt x="42" y="4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7" y="13"/>
                    <a:pt x="36" y="14"/>
                    <a:pt x="34" y="14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5" y="10"/>
                    <a:pt x="23" y="10"/>
                    <a:pt x="22" y="11"/>
                  </a:cubicBezTo>
                  <a:cubicBezTo>
                    <a:pt x="17" y="14"/>
                    <a:pt x="13" y="18"/>
                    <a:pt x="10" y="22"/>
                  </a:cubicBezTo>
                  <a:cubicBezTo>
                    <a:pt x="9" y="24"/>
                    <a:pt x="9" y="25"/>
                    <a:pt x="10" y="27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36"/>
                    <a:pt x="12" y="38"/>
                    <a:pt x="12" y="39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2" y="43"/>
                    <a:pt x="1" y="44"/>
                    <a:pt x="0" y="46"/>
                  </a:cubicBezTo>
                  <a:cubicBezTo>
                    <a:pt x="0" y="49"/>
                    <a:pt x="0" y="51"/>
                    <a:pt x="0" y="54"/>
                  </a:cubicBezTo>
                  <a:cubicBezTo>
                    <a:pt x="0" y="56"/>
                    <a:pt x="0" y="59"/>
                    <a:pt x="0" y="62"/>
                  </a:cubicBezTo>
                  <a:cubicBezTo>
                    <a:pt x="1" y="64"/>
                    <a:pt x="2" y="65"/>
                    <a:pt x="3" y="66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2" y="70"/>
                    <a:pt x="13" y="72"/>
                    <a:pt x="14" y="73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9" y="82"/>
                    <a:pt x="9" y="84"/>
                    <a:pt x="10" y="86"/>
                  </a:cubicBezTo>
                  <a:cubicBezTo>
                    <a:pt x="13" y="90"/>
                    <a:pt x="17" y="94"/>
                    <a:pt x="22" y="97"/>
                  </a:cubicBezTo>
                  <a:cubicBezTo>
                    <a:pt x="23" y="98"/>
                    <a:pt x="25" y="98"/>
                    <a:pt x="26" y="98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6" y="94"/>
                    <a:pt x="37" y="95"/>
                    <a:pt x="39" y="95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6"/>
                    <a:pt x="44" y="107"/>
                    <a:pt x="45" y="107"/>
                  </a:cubicBezTo>
                  <a:cubicBezTo>
                    <a:pt x="48" y="107"/>
                    <a:pt x="51" y="108"/>
                    <a:pt x="53" y="108"/>
                  </a:cubicBezTo>
                  <a:cubicBezTo>
                    <a:pt x="56" y="108"/>
                    <a:pt x="59" y="107"/>
                    <a:pt x="62" y="107"/>
                  </a:cubicBezTo>
                  <a:cubicBezTo>
                    <a:pt x="63" y="107"/>
                    <a:pt x="65" y="106"/>
                    <a:pt x="65" y="104"/>
                  </a:cubicBezTo>
                  <a:cubicBezTo>
                    <a:pt x="68" y="95"/>
                    <a:pt x="68" y="95"/>
                    <a:pt x="68" y="95"/>
                  </a:cubicBezTo>
                  <a:cubicBezTo>
                    <a:pt x="70" y="95"/>
                    <a:pt x="71" y="94"/>
                    <a:pt x="72" y="94"/>
                  </a:cubicBezTo>
                  <a:cubicBezTo>
                    <a:pt x="80" y="98"/>
                    <a:pt x="80" y="98"/>
                    <a:pt x="80" y="98"/>
                  </a:cubicBezTo>
                  <a:cubicBezTo>
                    <a:pt x="82" y="98"/>
                    <a:pt x="84" y="98"/>
                    <a:pt x="85" y="97"/>
                  </a:cubicBezTo>
                  <a:cubicBezTo>
                    <a:pt x="89" y="94"/>
                    <a:pt x="93" y="90"/>
                    <a:pt x="97" y="86"/>
                  </a:cubicBezTo>
                  <a:cubicBezTo>
                    <a:pt x="98" y="84"/>
                    <a:pt x="98" y="82"/>
                    <a:pt x="97" y="81"/>
                  </a:cubicBezTo>
                  <a:cubicBezTo>
                    <a:pt x="93" y="73"/>
                    <a:pt x="93" y="73"/>
                    <a:pt x="93" y="73"/>
                  </a:cubicBezTo>
                  <a:cubicBezTo>
                    <a:pt x="94" y="72"/>
                    <a:pt x="94" y="70"/>
                    <a:pt x="95" y="69"/>
                  </a:cubicBezTo>
                  <a:cubicBezTo>
                    <a:pt x="103" y="66"/>
                    <a:pt x="103" y="66"/>
                    <a:pt x="103" y="66"/>
                  </a:cubicBezTo>
                  <a:cubicBezTo>
                    <a:pt x="105" y="65"/>
                    <a:pt x="106" y="64"/>
                    <a:pt x="106" y="62"/>
                  </a:cubicBezTo>
                  <a:cubicBezTo>
                    <a:pt x="107" y="59"/>
                    <a:pt x="107" y="56"/>
                    <a:pt x="107" y="54"/>
                  </a:cubicBezTo>
                  <a:cubicBezTo>
                    <a:pt x="107" y="51"/>
                    <a:pt x="107" y="49"/>
                    <a:pt x="106" y="46"/>
                  </a:cubicBezTo>
                  <a:close/>
                  <a:moveTo>
                    <a:pt x="98" y="58"/>
                  </a:moveTo>
                  <a:cubicBezTo>
                    <a:pt x="90" y="61"/>
                    <a:pt x="90" y="61"/>
                    <a:pt x="90" y="61"/>
                  </a:cubicBezTo>
                  <a:cubicBezTo>
                    <a:pt x="88" y="61"/>
                    <a:pt x="87" y="62"/>
                    <a:pt x="87" y="64"/>
                  </a:cubicBezTo>
                  <a:cubicBezTo>
                    <a:pt x="86" y="66"/>
                    <a:pt x="85" y="69"/>
                    <a:pt x="84" y="71"/>
                  </a:cubicBezTo>
                  <a:cubicBezTo>
                    <a:pt x="83" y="72"/>
                    <a:pt x="83" y="73"/>
                    <a:pt x="84" y="75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6" y="84"/>
                    <a:pt x="84" y="86"/>
                    <a:pt x="82" y="88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3" y="84"/>
                    <a:pt x="71" y="84"/>
                    <a:pt x="70" y="85"/>
                  </a:cubicBezTo>
                  <a:cubicBezTo>
                    <a:pt x="68" y="86"/>
                    <a:pt x="66" y="87"/>
                    <a:pt x="63" y="87"/>
                  </a:cubicBezTo>
                  <a:cubicBezTo>
                    <a:pt x="62" y="88"/>
                    <a:pt x="61" y="89"/>
                    <a:pt x="60" y="90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5" y="98"/>
                    <a:pt x="52" y="98"/>
                    <a:pt x="49" y="98"/>
                  </a:cubicBezTo>
                  <a:cubicBezTo>
                    <a:pt x="47" y="90"/>
                    <a:pt x="47" y="90"/>
                    <a:pt x="47" y="90"/>
                  </a:cubicBezTo>
                  <a:cubicBezTo>
                    <a:pt x="46" y="89"/>
                    <a:pt x="45" y="88"/>
                    <a:pt x="43" y="87"/>
                  </a:cubicBezTo>
                  <a:cubicBezTo>
                    <a:pt x="41" y="87"/>
                    <a:pt x="39" y="86"/>
                    <a:pt x="37" y="85"/>
                  </a:cubicBezTo>
                  <a:cubicBezTo>
                    <a:pt x="35" y="84"/>
                    <a:pt x="34" y="84"/>
                    <a:pt x="33" y="84"/>
                  </a:cubicBezTo>
                  <a:cubicBezTo>
                    <a:pt x="25" y="88"/>
                    <a:pt x="25" y="88"/>
                    <a:pt x="25" y="88"/>
                  </a:cubicBezTo>
                  <a:cubicBezTo>
                    <a:pt x="23" y="86"/>
                    <a:pt x="21" y="84"/>
                    <a:pt x="19" y="82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3" y="73"/>
                    <a:pt x="23" y="72"/>
                    <a:pt x="23" y="71"/>
                  </a:cubicBezTo>
                  <a:cubicBezTo>
                    <a:pt x="22" y="69"/>
                    <a:pt x="21" y="66"/>
                    <a:pt x="20" y="64"/>
                  </a:cubicBezTo>
                  <a:cubicBezTo>
                    <a:pt x="20" y="62"/>
                    <a:pt x="18" y="61"/>
                    <a:pt x="17" y="61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7"/>
                    <a:pt x="9" y="55"/>
                    <a:pt x="9" y="54"/>
                  </a:cubicBezTo>
                  <a:cubicBezTo>
                    <a:pt x="9" y="53"/>
                    <a:pt x="9" y="51"/>
                    <a:pt x="9" y="50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8" y="47"/>
                    <a:pt x="20" y="45"/>
                    <a:pt x="20" y="44"/>
                  </a:cubicBezTo>
                  <a:cubicBezTo>
                    <a:pt x="21" y="42"/>
                    <a:pt x="22" y="39"/>
                    <a:pt x="23" y="37"/>
                  </a:cubicBezTo>
                  <a:cubicBezTo>
                    <a:pt x="23" y="36"/>
                    <a:pt x="23" y="34"/>
                    <a:pt x="23" y="33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3" y="22"/>
                    <a:pt x="25" y="20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4"/>
                    <a:pt x="37" y="23"/>
                  </a:cubicBezTo>
                  <a:cubicBezTo>
                    <a:pt x="39" y="22"/>
                    <a:pt x="41" y="21"/>
                    <a:pt x="43" y="21"/>
                  </a:cubicBezTo>
                  <a:cubicBezTo>
                    <a:pt x="45" y="20"/>
                    <a:pt x="46" y="19"/>
                    <a:pt x="47" y="18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52" y="9"/>
                    <a:pt x="55" y="9"/>
                    <a:pt x="57" y="10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1" y="19"/>
                    <a:pt x="62" y="20"/>
                    <a:pt x="63" y="21"/>
                  </a:cubicBezTo>
                  <a:cubicBezTo>
                    <a:pt x="66" y="21"/>
                    <a:pt x="68" y="22"/>
                    <a:pt x="70" y="23"/>
                  </a:cubicBezTo>
                  <a:cubicBezTo>
                    <a:pt x="71" y="24"/>
                    <a:pt x="73" y="24"/>
                    <a:pt x="74" y="23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4" y="22"/>
                    <a:pt x="86" y="23"/>
                    <a:pt x="88" y="26"/>
                  </a:cubicBezTo>
                  <a:cubicBezTo>
                    <a:pt x="84" y="33"/>
                    <a:pt x="84" y="33"/>
                    <a:pt x="84" y="33"/>
                  </a:cubicBezTo>
                  <a:cubicBezTo>
                    <a:pt x="83" y="34"/>
                    <a:pt x="83" y="36"/>
                    <a:pt x="84" y="37"/>
                  </a:cubicBezTo>
                  <a:cubicBezTo>
                    <a:pt x="85" y="39"/>
                    <a:pt x="86" y="42"/>
                    <a:pt x="87" y="44"/>
                  </a:cubicBezTo>
                  <a:cubicBezTo>
                    <a:pt x="87" y="45"/>
                    <a:pt x="88" y="47"/>
                    <a:pt x="90" y="47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3"/>
                    <a:pt x="98" y="54"/>
                  </a:cubicBezTo>
                  <a:cubicBezTo>
                    <a:pt x="98" y="55"/>
                    <a:pt x="98" y="57"/>
                    <a:pt x="98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" name="Freeform 15"/>
            <p:cNvSpPr>
              <a:spLocks noEditPoints="1"/>
            </p:cNvSpPr>
            <p:nvPr/>
          </p:nvSpPr>
          <p:spPr bwMode="auto">
            <a:xfrm>
              <a:off x="70" y="70"/>
              <a:ext cx="93" cy="92"/>
            </a:xfrm>
            <a:custGeom>
              <a:avLst/>
              <a:gdLst>
                <a:gd name="T0" fmla="*/ 97 w 43"/>
                <a:gd name="T1" fmla="*/ 0 h 42"/>
                <a:gd name="T2" fmla="*/ 0 w 43"/>
                <a:gd name="T3" fmla="*/ 101 h 42"/>
                <a:gd name="T4" fmla="*/ 97 w 43"/>
                <a:gd name="T5" fmla="*/ 202 h 42"/>
                <a:gd name="T6" fmla="*/ 201 w 43"/>
                <a:gd name="T7" fmla="*/ 101 h 42"/>
                <a:gd name="T8" fmla="*/ 97 w 43"/>
                <a:gd name="T9" fmla="*/ 0 h 42"/>
                <a:gd name="T10" fmla="*/ 97 w 43"/>
                <a:gd name="T11" fmla="*/ 158 h 42"/>
                <a:gd name="T12" fmla="*/ 41 w 43"/>
                <a:gd name="T13" fmla="*/ 101 h 42"/>
                <a:gd name="T14" fmla="*/ 97 w 43"/>
                <a:gd name="T15" fmla="*/ 44 h 42"/>
                <a:gd name="T16" fmla="*/ 154 w 43"/>
                <a:gd name="T17" fmla="*/ 101 h 42"/>
                <a:gd name="T18" fmla="*/ 97 w 43"/>
                <a:gd name="T19" fmla="*/ 158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3" h="42">
                  <a:moveTo>
                    <a:pt x="21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1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1" y="0"/>
                  </a:cubicBezTo>
                  <a:close/>
                  <a:moveTo>
                    <a:pt x="21" y="33"/>
                  </a:moveTo>
                  <a:cubicBezTo>
                    <a:pt x="15" y="33"/>
                    <a:pt x="9" y="28"/>
                    <a:pt x="9" y="21"/>
                  </a:cubicBezTo>
                  <a:cubicBezTo>
                    <a:pt x="9" y="14"/>
                    <a:pt x="15" y="9"/>
                    <a:pt x="21" y="9"/>
                  </a:cubicBezTo>
                  <a:cubicBezTo>
                    <a:pt x="28" y="9"/>
                    <a:pt x="33" y="14"/>
                    <a:pt x="33" y="21"/>
                  </a:cubicBezTo>
                  <a:cubicBezTo>
                    <a:pt x="33" y="28"/>
                    <a:pt x="28" y="33"/>
                    <a:pt x="2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21" name="Group 16"/>
          <p:cNvGrpSpPr/>
          <p:nvPr/>
        </p:nvGrpSpPr>
        <p:grpSpPr bwMode="auto">
          <a:xfrm>
            <a:off x="5850467" y="3486595"/>
            <a:ext cx="491067" cy="499533"/>
            <a:chOff x="0" y="0"/>
            <a:chExt cx="232" cy="236"/>
          </a:xfrm>
          <a:solidFill>
            <a:srgbClr val="2A3E56"/>
          </a:solidFill>
        </p:grpSpPr>
        <p:sp>
          <p:nvSpPr>
            <p:cNvPr id="22" name="Freeform 17"/>
            <p:cNvSpPr/>
            <p:nvPr/>
          </p:nvSpPr>
          <p:spPr bwMode="auto">
            <a:xfrm>
              <a:off x="0" y="0"/>
              <a:ext cx="232" cy="168"/>
            </a:xfrm>
            <a:custGeom>
              <a:avLst/>
              <a:gdLst>
                <a:gd name="T0" fmla="*/ 392 w 106"/>
                <a:gd name="T1" fmla="*/ 133 h 77"/>
                <a:gd name="T2" fmla="*/ 370 w 106"/>
                <a:gd name="T3" fmla="*/ 137 h 77"/>
                <a:gd name="T4" fmla="*/ 370 w 106"/>
                <a:gd name="T5" fmla="*/ 129 h 77"/>
                <a:gd name="T6" fmla="*/ 239 w 106"/>
                <a:gd name="T7" fmla="*/ 0 h 77"/>
                <a:gd name="T8" fmla="*/ 120 w 106"/>
                <a:gd name="T9" fmla="*/ 105 h 77"/>
                <a:gd name="T10" fmla="*/ 81 w 106"/>
                <a:gd name="T11" fmla="*/ 109 h 77"/>
                <a:gd name="T12" fmla="*/ 81 w 106"/>
                <a:gd name="T13" fmla="*/ 109 h 77"/>
                <a:gd name="T14" fmla="*/ 28 w 106"/>
                <a:gd name="T15" fmla="*/ 185 h 77"/>
                <a:gd name="T16" fmla="*/ 39 w 106"/>
                <a:gd name="T17" fmla="*/ 218 h 77"/>
                <a:gd name="T18" fmla="*/ 0 w 106"/>
                <a:gd name="T19" fmla="*/ 286 h 77"/>
                <a:gd name="T20" fmla="*/ 81 w 106"/>
                <a:gd name="T21" fmla="*/ 367 h 77"/>
                <a:gd name="T22" fmla="*/ 169 w 106"/>
                <a:gd name="T23" fmla="*/ 367 h 77"/>
                <a:gd name="T24" fmla="*/ 186 w 106"/>
                <a:gd name="T25" fmla="*/ 347 h 77"/>
                <a:gd name="T26" fmla="*/ 169 w 106"/>
                <a:gd name="T27" fmla="*/ 323 h 77"/>
                <a:gd name="T28" fmla="*/ 81 w 106"/>
                <a:gd name="T29" fmla="*/ 323 h 77"/>
                <a:gd name="T30" fmla="*/ 44 w 106"/>
                <a:gd name="T31" fmla="*/ 286 h 77"/>
                <a:gd name="T32" fmla="*/ 77 w 106"/>
                <a:gd name="T33" fmla="*/ 253 h 77"/>
                <a:gd name="T34" fmla="*/ 96 w 106"/>
                <a:gd name="T35" fmla="*/ 238 h 77"/>
                <a:gd name="T36" fmla="*/ 85 w 106"/>
                <a:gd name="T37" fmla="*/ 214 h 77"/>
                <a:gd name="T38" fmla="*/ 72 w 106"/>
                <a:gd name="T39" fmla="*/ 185 h 77"/>
                <a:gd name="T40" fmla="*/ 96 w 106"/>
                <a:gd name="T41" fmla="*/ 153 h 77"/>
                <a:gd name="T42" fmla="*/ 96 w 106"/>
                <a:gd name="T43" fmla="*/ 153 h 77"/>
                <a:gd name="T44" fmla="*/ 129 w 106"/>
                <a:gd name="T45" fmla="*/ 153 h 77"/>
                <a:gd name="T46" fmla="*/ 149 w 106"/>
                <a:gd name="T47" fmla="*/ 153 h 77"/>
                <a:gd name="T48" fmla="*/ 162 w 106"/>
                <a:gd name="T49" fmla="*/ 133 h 77"/>
                <a:gd name="T50" fmla="*/ 158 w 106"/>
                <a:gd name="T51" fmla="*/ 129 h 77"/>
                <a:gd name="T52" fmla="*/ 158 w 106"/>
                <a:gd name="T53" fmla="*/ 129 h 77"/>
                <a:gd name="T54" fmla="*/ 239 w 106"/>
                <a:gd name="T55" fmla="*/ 44 h 77"/>
                <a:gd name="T56" fmla="*/ 322 w 106"/>
                <a:gd name="T57" fmla="*/ 129 h 77"/>
                <a:gd name="T58" fmla="*/ 311 w 106"/>
                <a:gd name="T59" fmla="*/ 166 h 77"/>
                <a:gd name="T60" fmla="*/ 315 w 106"/>
                <a:gd name="T61" fmla="*/ 194 h 77"/>
                <a:gd name="T62" fmla="*/ 346 w 106"/>
                <a:gd name="T63" fmla="*/ 194 h 77"/>
                <a:gd name="T64" fmla="*/ 392 w 106"/>
                <a:gd name="T65" fmla="*/ 181 h 77"/>
                <a:gd name="T66" fmla="*/ 464 w 106"/>
                <a:gd name="T67" fmla="*/ 253 h 77"/>
                <a:gd name="T68" fmla="*/ 392 w 106"/>
                <a:gd name="T69" fmla="*/ 323 h 77"/>
                <a:gd name="T70" fmla="*/ 339 w 106"/>
                <a:gd name="T71" fmla="*/ 323 h 77"/>
                <a:gd name="T72" fmla="*/ 322 w 106"/>
                <a:gd name="T73" fmla="*/ 347 h 77"/>
                <a:gd name="T74" fmla="*/ 339 w 106"/>
                <a:gd name="T75" fmla="*/ 367 h 77"/>
                <a:gd name="T76" fmla="*/ 392 w 106"/>
                <a:gd name="T77" fmla="*/ 367 h 77"/>
                <a:gd name="T78" fmla="*/ 508 w 106"/>
                <a:gd name="T79" fmla="*/ 253 h 77"/>
                <a:gd name="T80" fmla="*/ 392 w 106"/>
                <a:gd name="T81" fmla="*/ 133 h 7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6" h="77">
                  <a:moveTo>
                    <a:pt x="82" y="28"/>
                  </a:moveTo>
                  <a:cubicBezTo>
                    <a:pt x="80" y="28"/>
                    <a:pt x="78" y="29"/>
                    <a:pt x="77" y="29"/>
                  </a:cubicBezTo>
                  <a:cubicBezTo>
                    <a:pt x="77" y="28"/>
                    <a:pt x="77" y="27"/>
                    <a:pt x="77" y="27"/>
                  </a:cubicBezTo>
                  <a:cubicBezTo>
                    <a:pt x="77" y="12"/>
                    <a:pt x="65" y="0"/>
                    <a:pt x="50" y="0"/>
                  </a:cubicBezTo>
                  <a:cubicBezTo>
                    <a:pt x="37" y="0"/>
                    <a:pt x="27" y="10"/>
                    <a:pt x="25" y="22"/>
                  </a:cubicBezTo>
                  <a:cubicBezTo>
                    <a:pt x="22" y="22"/>
                    <a:pt x="19" y="22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0" y="26"/>
                    <a:pt x="6" y="32"/>
                    <a:pt x="6" y="39"/>
                  </a:cubicBezTo>
                  <a:cubicBezTo>
                    <a:pt x="6" y="41"/>
                    <a:pt x="7" y="44"/>
                    <a:pt x="8" y="46"/>
                  </a:cubicBezTo>
                  <a:cubicBezTo>
                    <a:pt x="3" y="49"/>
                    <a:pt x="0" y="55"/>
                    <a:pt x="0" y="60"/>
                  </a:cubicBezTo>
                  <a:cubicBezTo>
                    <a:pt x="0" y="70"/>
                    <a:pt x="8" y="77"/>
                    <a:pt x="17" y="77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7" y="77"/>
                    <a:pt x="39" y="75"/>
                    <a:pt x="39" y="73"/>
                  </a:cubicBezTo>
                  <a:cubicBezTo>
                    <a:pt x="39" y="70"/>
                    <a:pt x="37" y="68"/>
                    <a:pt x="35" y="68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3" y="68"/>
                    <a:pt x="9" y="65"/>
                    <a:pt x="9" y="60"/>
                  </a:cubicBezTo>
                  <a:cubicBezTo>
                    <a:pt x="9" y="57"/>
                    <a:pt x="12" y="53"/>
                    <a:pt x="16" y="53"/>
                  </a:cubicBezTo>
                  <a:cubicBezTo>
                    <a:pt x="18" y="53"/>
                    <a:pt x="19" y="51"/>
                    <a:pt x="20" y="50"/>
                  </a:cubicBezTo>
                  <a:cubicBezTo>
                    <a:pt x="20" y="48"/>
                    <a:pt x="20" y="46"/>
                    <a:pt x="18" y="45"/>
                  </a:cubicBezTo>
                  <a:cubicBezTo>
                    <a:pt x="16" y="43"/>
                    <a:pt x="15" y="41"/>
                    <a:pt x="15" y="39"/>
                  </a:cubicBezTo>
                  <a:cubicBezTo>
                    <a:pt x="15" y="36"/>
                    <a:pt x="17" y="33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1"/>
                    <a:pt x="25" y="31"/>
                    <a:pt x="27" y="32"/>
                  </a:cubicBezTo>
                  <a:cubicBezTo>
                    <a:pt x="28" y="33"/>
                    <a:pt x="30" y="33"/>
                    <a:pt x="31" y="32"/>
                  </a:cubicBezTo>
                  <a:cubicBezTo>
                    <a:pt x="33" y="31"/>
                    <a:pt x="34" y="30"/>
                    <a:pt x="34" y="28"/>
                  </a:cubicBezTo>
                  <a:cubicBezTo>
                    <a:pt x="33" y="28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17"/>
                    <a:pt x="41" y="9"/>
                    <a:pt x="50" y="9"/>
                  </a:cubicBezTo>
                  <a:cubicBezTo>
                    <a:pt x="60" y="9"/>
                    <a:pt x="67" y="17"/>
                    <a:pt x="67" y="27"/>
                  </a:cubicBezTo>
                  <a:cubicBezTo>
                    <a:pt x="67" y="30"/>
                    <a:pt x="67" y="33"/>
                    <a:pt x="65" y="35"/>
                  </a:cubicBezTo>
                  <a:cubicBezTo>
                    <a:pt x="64" y="37"/>
                    <a:pt x="64" y="40"/>
                    <a:pt x="66" y="41"/>
                  </a:cubicBezTo>
                  <a:cubicBezTo>
                    <a:pt x="68" y="43"/>
                    <a:pt x="70" y="43"/>
                    <a:pt x="72" y="41"/>
                  </a:cubicBezTo>
                  <a:cubicBezTo>
                    <a:pt x="74" y="40"/>
                    <a:pt x="77" y="38"/>
                    <a:pt x="82" y="38"/>
                  </a:cubicBezTo>
                  <a:cubicBezTo>
                    <a:pt x="90" y="38"/>
                    <a:pt x="97" y="44"/>
                    <a:pt x="97" y="53"/>
                  </a:cubicBezTo>
                  <a:cubicBezTo>
                    <a:pt x="97" y="61"/>
                    <a:pt x="90" y="68"/>
                    <a:pt x="82" y="6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69" y="68"/>
                    <a:pt x="67" y="70"/>
                    <a:pt x="67" y="73"/>
                  </a:cubicBezTo>
                  <a:cubicBezTo>
                    <a:pt x="67" y="75"/>
                    <a:pt x="69" y="77"/>
                    <a:pt x="71" y="77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95" y="77"/>
                    <a:pt x="106" y="66"/>
                    <a:pt x="106" y="53"/>
                  </a:cubicBezTo>
                  <a:cubicBezTo>
                    <a:pt x="106" y="39"/>
                    <a:pt x="95" y="28"/>
                    <a:pt x="82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" name="Freeform 18"/>
            <p:cNvSpPr/>
            <p:nvPr/>
          </p:nvSpPr>
          <p:spPr bwMode="auto">
            <a:xfrm>
              <a:off x="70" y="94"/>
              <a:ext cx="92" cy="142"/>
            </a:xfrm>
            <a:custGeom>
              <a:avLst/>
              <a:gdLst>
                <a:gd name="T0" fmla="*/ 158 w 42"/>
                <a:gd name="T1" fmla="*/ 197 h 65"/>
                <a:gd name="T2" fmla="*/ 125 w 42"/>
                <a:gd name="T3" fmla="*/ 234 h 65"/>
                <a:gd name="T4" fmla="*/ 125 w 42"/>
                <a:gd name="T5" fmla="*/ 24 h 65"/>
                <a:gd name="T6" fmla="*/ 101 w 42"/>
                <a:gd name="T7" fmla="*/ 0 h 65"/>
                <a:gd name="T8" fmla="*/ 77 w 42"/>
                <a:gd name="T9" fmla="*/ 24 h 65"/>
                <a:gd name="T10" fmla="*/ 77 w 42"/>
                <a:gd name="T11" fmla="*/ 234 h 65"/>
                <a:gd name="T12" fmla="*/ 44 w 42"/>
                <a:gd name="T13" fmla="*/ 197 h 65"/>
                <a:gd name="T14" fmla="*/ 9 w 42"/>
                <a:gd name="T15" fmla="*/ 197 h 65"/>
                <a:gd name="T16" fmla="*/ 9 w 42"/>
                <a:gd name="T17" fmla="*/ 229 h 65"/>
                <a:gd name="T18" fmla="*/ 85 w 42"/>
                <a:gd name="T19" fmla="*/ 301 h 65"/>
                <a:gd name="T20" fmla="*/ 101 w 42"/>
                <a:gd name="T21" fmla="*/ 310 h 65"/>
                <a:gd name="T22" fmla="*/ 116 w 42"/>
                <a:gd name="T23" fmla="*/ 301 h 65"/>
                <a:gd name="T24" fmla="*/ 193 w 42"/>
                <a:gd name="T25" fmla="*/ 229 h 65"/>
                <a:gd name="T26" fmla="*/ 193 w 42"/>
                <a:gd name="T27" fmla="*/ 197 h 65"/>
                <a:gd name="T28" fmla="*/ 158 w 42"/>
                <a:gd name="T29" fmla="*/ 197 h 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" h="65">
                  <a:moveTo>
                    <a:pt x="33" y="41"/>
                  </a:moveTo>
                  <a:cubicBezTo>
                    <a:pt x="26" y="49"/>
                    <a:pt x="26" y="49"/>
                    <a:pt x="26" y="49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3"/>
                    <a:pt x="24" y="0"/>
                    <a:pt x="21" y="0"/>
                  </a:cubicBezTo>
                  <a:cubicBezTo>
                    <a:pt x="18" y="0"/>
                    <a:pt x="16" y="3"/>
                    <a:pt x="16" y="5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39"/>
                    <a:pt x="4" y="39"/>
                    <a:pt x="2" y="41"/>
                  </a:cubicBezTo>
                  <a:cubicBezTo>
                    <a:pt x="0" y="43"/>
                    <a:pt x="0" y="46"/>
                    <a:pt x="2" y="48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9" y="64"/>
                    <a:pt x="20" y="65"/>
                    <a:pt x="21" y="65"/>
                  </a:cubicBezTo>
                  <a:cubicBezTo>
                    <a:pt x="22" y="65"/>
                    <a:pt x="23" y="64"/>
                    <a:pt x="24" y="63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2" y="46"/>
                    <a:pt x="42" y="43"/>
                    <a:pt x="40" y="41"/>
                  </a:cubicBezTo>
                  <a:cubicBezTo>
                    <a:pt x="38" y="39"/>
                    <a:pt x="35" y="39"/>
                    <a:pt x="3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2677584" y="4119477"/>
            <a:ext cx="0" cy="899584"/>
          </a:xfrm>
          <a:prstGeom prst="line">
            <a:avLst/>
          </a:prstGeom>
          <a:noFill/>
          <a:ln w="6350">
            <a:solidFill>
              <a:srgbClr val="2A3E56"/>
            </a:solidFill>
            <a:prstDash val="dash"/>
            <a:rou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1" name="Line 26"/>
          <p:cNvSpPr>
            <a:spLocks noChangeShapeType="1"/>
          </p:cNvSpPr>
          <p:nvPr/>
        </p:nvSpPr>
        <p:spPr bwMode="auto">
          <a:xfrm>
            <a:off x="6096000" y="4119477"/>
            <a:ext cx="0" cy="899584"/>
          </a:xfrm>
          <a:prstGeom prst="line">
            <a:avLst/>
          </a:prstGeom>
          <a:noFill/>
          <a:ln w="6350">
            <a:solidFill>
              <a:srgbClr val="2A3E56"/>
            </a:solidFill>
            <a:prstDash val="dash"/>
            <a:rou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9514417" y="4119477"/>
            <a:ext cx="0" cy="899584"/>
          </a:xfrm>
          <a:prstGeom prst="line">
            <a:avLst/>
          </a:prstGeom>
          <a:noFill/>
          <a:ln w="6350">
            <a:solidFill>
              <a:srgbClr val="2A3E56"/>
            </a:solidFill>
            <a:prstDash val="dash"/>
            <a:round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>
            <a:off x="4406900" y="2451544"/>
            <a:ext cx="0" cy="899584"/>
          </a:xfrm>
          <a:prstGeom prst="line">
            <a:avLst/>
          </a:prstGeom>
          <a:noFill/>
          <a:ln w="6350">
            <a:solidFill>
              <a:srgbClr val="58A5BF"/>
            </a:solidFill>
            <a:prstDash val="dash"/>
            <a:round/>
            <a:head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7802033" y="2451544"/>
            <a:ext cx="0" cy="899584"/>
          </a:xfrm>
          <a:prstGeom prst="line">
            <a:avLst/>
          </a:prstGeom>
          <a:noFill/>
          <a:ln w="6350">
            <a:solidFill>
              <a:srgbClr val="58A5BF"/>
            </a:solidFill>
            <a:prstDash val="dash"/>
            <a:round/>
            <a:head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7" name="文本框 51"/>
          <p:cNvSpPr txBox="1"/>
          <p:nvPr/>
        </p:nvSpPr>
        <p:spPr>
          <a:xfrm>
            <a:off x="3023870" y="1566545"/>
            <a:ext cx="29749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90303" pitchFamily="18" charset="0"/>
                <a:ea typeface="Apple LiSung" charset="-120"/>
                <a:cs typeface="+mn-ea"/>
                <a:sym typeface="+mn-lt"/>
              </a:rPr>
              <a:t>DNN and the other ML methods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Georgia" panose="02040502050405090303" pitchFamily="18" charset="0"/>
              <a:ea typeface="Apple LiSung" charset="-120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51"/>
              <p:cNvSpPr txBox="1"/>
              <p:nvPr/>
            </p:nvSpPr>
            <p:spPr>
              <a:xfrm>
                <a:off x="5075872" y="5042343"/>
                <a:ext cx="2040255" cy="104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0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cs typeface="DejaVu Math TeX Gyre" panose="02000503000000000000" charset="0"/>
                              <a:sym typeface="+mn-ea"/>
                            </a:rPr>
                          </m:ctrlPr>
                        </m:accPr>
                        <m:e>
                          <m:r>
                            <a:rPr lang="en-US" altLang="zh-CN" sz="20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cs typeface="DejaVu Math TeX Gyre" panose="02000503000000000000" charset="0"/>
                              <a:sym typeface="+mn-ea"/>
                            </a:rPr>
                            <m:t>𝐸</m:t>
                          </m:r>
                        </m:e>
                      </m:acc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(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𝑍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|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𝑋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sz="2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90303" pitchFamily="18" charset="0"/>
                  <a:ea typeface="微软雅黑 Light" panose="020B0502040204020203" pitchFamily="34" charset="-122"/>
                  <a:cs typeface="DejaVu Math TeX Gyre" panose="02000503000000000000" charset="0"/>
                  <a:sym typeface="+mn-ea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0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cs typeface="DejaVu Math TeX Gyre" panose="02000503000000000000" charset="0"/>
                              <a:sym typeface="+mn-ea"/>
                            </a:rPr>
                          </m:ctrlPr>
                        </m:accPr>
                        <m:e>
                          <m:r>
                            <a:rPr lang="en-US" altLang="zh-CN" sz="20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 Light" panose="020B0502040204020203" pitchFamily="34" charset="-122"/>
                              <a:cs typeface="DejaVu Math TeX Gyre" panose="02000503000000000000" charset="0"/>
                              <a:sym typeface="+mn-ea"/>
                            </a:rPr>
                            <m:t>𝐸</m:t>
                          </m:r>
                        </m:e>
                      </m:acc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(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𝑌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|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𝑋</m:t>
                      </m:r>
                      <m:r>
                        <a:rPr lang="en-US" altLang="zh-CN" sz="2000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微软雅黑 Light" panose="020B0502040204020203" pitchFamily="34" charset="-122"/>
                          <a:cs typeface="DejaVu Math TeX Gyre" panose="02000503000000000000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90303" pitchFamily="18" charset="0"/>
                  <a:ea typeface="微软雅黑 Light" panose="020B0502040204020203" pitchFamily="34" charset="-122"/>
                  <a:cs typeface="+mn-ea"/>
                  <a:sym typeface="+mn-ea"/>
                </a:endParaRPr>
              </a:p>
              <a:p>
                <a:pPr algn="ctr"/>
                <a:endPara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46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872" y="5042343"/>
                <a:ext cx="2040255" cy="1043940"/>
              </a:xfrm>
              <a:prstGeom prst="rect">
                <a:avLst/>
              </a:prstGeom>
              <a:blipFill rotWithShape="1">
                <a:blip r:embed="rId1"/>
                <a:stretch>
                  <a:fillRect l="-16" t="-42" r="16" b="-190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4"/>
          <p:cNvSpPr txBox="1"/>
          <p:nvPr/>
        </p:nvSpPr>
        <p:spPr>
          <a:xfrm>
            <a:off x="1706948" y="5072073"/>
            <a:ext cx="2186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90303" pitchFamily="18" charset="0"/>
                <a:ea typeface="Apple LiSung" charset="-120"/>
              </a:rPr>
              <a:t>Input: X, Y, Z</a:t>
            </a:r>
            <a:endParaRPr lang="en-US" sz="2400" dirty="0">
              <a:latin typeface="Georgia" panose="02040502050405090303" pitchFamily="18" charset="0"/>
              <a:ea typeface="Apple LiSung" charset="-12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6284895" y="1566545"/>
            <a:ext cx="310916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90303" pitchFamily="18" charset="0"/>
                <a:ea typeface="Apple LiSung" charset="-120"/>
                <a:cs typeface="+mn-ea"/>
                <a:sym typeface="+mn-lt"/>
              </a:rPr>
              <a:t>DNN and the other ML methods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Georgia" panose="02040502050405090303" pitchFamily="18" charset="0"/>
              <a:ea typeface="Apple LiSung" charset="-120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 Box 50"/>
              <p:cNvSpPr txBox="1"/>
              <p:nvPr/>
            </p:nvSpPr>
            <p:spPr>
              <a:xfrm>
                <a:off x="8721022" y="5073363"/>
                <a:ext cx="176403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sz="24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pple LiSung" charset="-120"/>
                              <a:cs typeface="DejaVu Math TeX Gyre" panose="02000503000000000000" charset="0"/>
                              <a:sym typeface="+mn-ea"/>
                            </a:rPr>
                            <m:t>𝜏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1" name="Text 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022" y="5073363"/>
                <a:ext cx="1764030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32" t="-76" r="32" b="-29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13"/>
          <p:cNvGrpSpPr/>
          <p:nvPr/>
        </p:nvGrpSpPr>
        <p:grpSpPr bwMode="auto">
          <a:xfrm>
            <a:off x="4168668" y="3481261"/>
            <a:ext cx="493183" cy="499533"/>
            <a:chOff x="0" y="0"/>
            <a:chExt cx="233" cy="236"/>
          </a:xfrm>
          <a:solidFill>
            <a:srgbClr val="58A5BF"/>
          </a:solidFill>
        </p:grpSpPr>
        <p:sp>
          <p:nvSpPr>
            <p:cNvPr id="36" name="Freeform 14"/>
            <p:cNvSpPr>
              <a:spLocks noEditPoints="1"/>
            </p:cNvSpPr>
            <p:nvPr/>
          </p:nvSpPr>
          <p:spPr bwMode="auto">
            <a:xfrm>
              <a:off x="0" y="0"/>
              <a:ext cx="233" cy="236"/>
            </a:xfrm>
            <a:custGeom>
              <a:avLst/>
              <a:gdLst>
                <a:gd name="T0" fmla="*/ 488 w 107"/>
                <a:gd name="T1" fmla="*/ 201 h 108"/>
                <a:gd name="T2" fmla="*/ 442 w 107"/>
                <a:gd name="T3" fmla="*/ 166 h 108"/>
                <a:gd name="T4" fmla="*/ 459 w 107"/>
                <a:gd name="T5" fmla="*/ 105 h 108"/>
                <a:gd name="T6" fmla="*/ 379 w 107"/>
                <a:gd name="T7" fmla="*/ 48 h 108"/>
                <a:gd name="T8" fmla="*/ 322 w 107"/>
                <a:gd name="T9" fmla="*/ 57 h 108"/>
                <a:gd name="T10" fmla="*/ 294 w 107"/>
                <a:gd name="T11" fmla="*/ 4 h 108"/>
                <a:gd name="T12" fmla="*/ 198 w 107"/>
                <a:gd name="T13" fmla="*/ 20 h 108"/>
                <a:gd name="T14" fmla="*/ 161 w 107"/>
                <a:gd name="T15" fmla="*/ 68 h 108"/>
                <a:gd name="T16" fmla="*/ 105 w 107"/>
                <a:gd name="T17" fmla="*/ 52 h 108"/>
                <a:gd name="T18" fmla="*/ 48 w 107"/>
                <a:gd name="T19" fmla="*/ 129 h 108"/>
                <a:gd name="T20" fmla="*/ 57 w 107"/>
                <a:gd name="T21" fmla="*/ 186 h 108"/>
                <a:gd name="T22" fmla="*/ 0 w 107"/>
                <a:gd name="T23" fmla="*/ 221 h 108"/>
                <a:gd name="T24" fmla="*/ 0 w 107"/>
                <a:gd name="T25" fmla="*/ 295 h 108"/>
                <a:gd name="T26" fmla="*/ 57 w 107"/>
                <a:gd name="T27" fmla="*/ 330 h 108"/>
                <a:gd name="T28" fmla="*/ 48 w 107"/>
                <a:gd name="T29" fmla="*/ 387 h 108"/>
                <a:gd name="T30" fmla="*/ 105 w 107"/>
                <a:gd name="T31" fmla="*/ 463 h 108"/>
                <a:gd name="T32" fmla="*/ 161 w 107"/>
                <a:gd name="T33" fmla="*/ 448 h 108"/>
                <a:gd name="T34" fmla="*/ 198 w 107"/>
                <a:gd name="T35" fmla="*/ 496 h 108"/>
                <a:gd name="T36" fmla="*/ 250 w 107"/>
                <a:gd name="T37" fmla="*/ 516 h 108"/>
                <a:gd name="T38" fmla="*/ 309 w 107"/>
                <a:gd name="T39" fmla="*/ 496 h 108"/>
                <a:gd name="T40" fmla="*/ 342 w 107"/>
                <a:gd name="T41" fmla="*/ 448 h 108"/>
                <a:gd name="T42" fmla="*/ 403 w 107"/>
                <a:gd name="T43" fmla="*/ 463 h 108"/>
                <a:gd name="T44" fmla="*/ 459 w 107"/>
                <a:gd name="T45" fmla="*/ 387 h 108"/>
                <a:gd name="T46" fmla="*/ 451 w 107"/>
                <a:gd name="T47" fmla="*/ 330 h 108"/>
                <a:gd name="T48" fmla="*/ 503 w 107"/>
                <a:gd name="T49" fmla="*/ 295 h 108"/>
                <a:gd name="T50" fmla="*/ 503 w 107"/>
                <a:gd name="T51" fmla="*/ 221 h 108"/>
                <a:gd name="T52" fmla="*/ 427 w 107"/>
                <a:gd name="T53" fmla="*/ 291 h 108"/>
                <a:gd name="T54" fmla="*/ 398 w 107"/>
                <a:gd name="T55" fmla="*/ 339 h 108"/>
                <a:gd name="T56" fmla="*/ 418 w 107"/>
                <a:gd name="T57" fmla="*/ 391 h 108"/>
                <a:gd name="T58" fmla="*/ 351 w 107"/>
                <a:gd name="T59" fmla="*/ 402 h 108"/>
                <a:gd name="T60" fmla="*/ 298 w 107"/>
                <a:gd name="T61" fmla="*/ 415 h 108"/>
                <a:gd name="T62" fmla="*/ 270 w 107"/>
                <a:gd name="T63" fmla="*/ 468 h 108"/>
                <a:gd name="T64" fmla="*/ 222 w 107"/>
                <a:gd name="T65" fmla="*/ 430 h 108"/>
                <a:gd name="T66" fmla="*/ 176 w 107"/>
                <a:gd name="T67" fmla="*/ 406 h 108"/>
                <a:gd name="T68" fmla="*/ 118 w 107"/>
                <a:gd name="T69" fmla="*/ 420 h 108"/>
                <a:gd name="T70" fmla="*/ 109 w 107"/>
                <a:gd name="T71" fmla="*/ 358 h 108"/>
                <a:gd name="T72" fmla="*/ 96 w 107"/>
                <a:gd name="T73" fmla="*/ 306 h 108"/>
                <a:gd name="T74" fmla="*/ 44 w 107"/>
                <a:gd name="T75" fmla="*/ 278 h 108"/>
                <a:gd name="T76" fmla="*/ 44 w 107"/>
                <a:gd name="T77" fmla="*/ 238 h 108"/>
                <a:gd name="T78" fmla="*/ 96 w 107"/>
                <a:gd name="T79" fmla="*/ 210 h 108"/>
                <a:gd name="T80" fmla="*/ 109 w 107"/>
                <a:gd name="T81" fmla="*/ 157 h 108"/>
                <a:gd name="T82" fmla="*/ 118 w 107"/>
                <a:gd name="T83" fmla="*/ 96 h 108"/>
                <a:gd name="T84" fmla="*/ 176 w 107"/>
                <a:gd name="T85" fmla="*/ 109 h 108"/>
                <a:gd name="T86" fmla="*/ 222 w 107"/>
                <a:gd name="T87" fmla="*/ 85 h 108"/>
                <a:gd name="T88" fmla="*/ 270 w 107"/>
                <a:gd name="T89" fmla="*/ 48 h 108"/>
                <a:gd name="T90" fmla="*/ 298 w 107"/>
                <a:gd name="T91" fmla="*/ 101 h 108"/>
                <a:gd name="T92" fmla="*/ 351 w 107"/>
                <a:gd name="T93" fmla="*/ 109 h 108"/>
                <a:gd name="T94" fmla="*/ 418 w 107"/>
                <a:gd name="T95" fmla="*/ 125 h 108"/>
                <a:gd name="T96" fmla="*/ 398 w 107"/>
                <a:gd name="T97" fmla="*/ 177 h 108"/>
                <a:gd name="T98" fmla="*/ 427 w 107"/>
                <a:gd name="T99" fmla="*/ 225 h 108"/>
                <a:gd name="T100" fmla="*/ 464 w 107"/>
                <a:gd name="T101" fmla="*/ 258 h 10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07" h="108">
                  <a:moveTo>
                    <a:pt x="106" y="46"/>
                  </a:moveTo>
                  <a:cubicBezTo>
                    <a:pt x="106" y="44"/>
                    <a:pt x="105" y="43"/>
                    <a:pt x="103" y="42"/>
                  </a:cubicBezTo>
                  <a:cubicBezTo>
                    <a:pt x="95" y="39"/>
                    <a:pt x="95" y="39"/>
                    <a:pt x="95" y="39"/>
                  </a:cubicBezTo>
                  <a:cubicBezTo>
                    <a:pt x="94" y="38"/>
                    <a:pt x="94" y="36"/>
                    <a:pt x="93" y="35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98" y="25"/>
                    <a:pt x="98" y="24"/>
                    <a:pt x="97" y="22"/>
                  </a:cubicBezTo>
                  <a:cubicBezTo>
                    <a:pt x="93" y="18"/>
                    <a:pt x="89" y="14"/>
                    <a:pt x="85" y="11"/>
                  </a:cubicBezTo>
                  <a:cubicBezTo>
                    <a:pt x="84" y="10"/>
                    <a:pt x="82" y="10"/>
                    <a:pt x="80" y="10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1" y="14"/>
                    <a:pt x="70" y="13"/>
                    <a:pt x="68" y="1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2"/>
                    <a:pt x="63" y="1"/>
                    <a:pt x="62" y="1"/>
                  </a:cubicBezTo>
                  <a:cubicBezTo>
                    <a:pt x="56" y="0"/>
                    <a:pt x="51" y="0"/>
                    <a:pt x="45" y="1"/>
                  </a:cubicBezTo>
                  <a:cubicBezTo>
                    <a:pt x="44" y="1"/>
                    <a:pt x="42" y="2"/>
                    <a:pt x="42" y="4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7" y="13"/>
                    <a:pt x="36" y="14"/>
                    <a:pt x="34" y="14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5" y="10"/>
                    <a:pt x="23" y="10"/>
                    <a:pt x="22" y="11"/>
                  </a:cubicBezTo>
                  <a:cubicBezTo>
                    <a:pt x="17" y="14"/>
                    <a:pt x="13" y="18"/>
                    <a:pt x="10" y="22"/>
                  </a:cubicBezTo>
                  <a:cubicBezTo>
                    <a:pt x="9" y="24"/>
                    <a:pt x="9" y="25"/>
                    <a:pt x="10" y="27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36"/>
                    <a:pt x="12" y="38"/>
                    <a:pt x="12" y="39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2" y="43"/>
                    <a:pt x="1" y="44"/>
                    <a:pt x="0" y="46"/>
                  </a:cubicBezTo>
                  <a:cubicBezTo>
                    <a:pt x="0" y="49"/>
                    <a:pt x="0" y="51"/>
                    <a:pt x="0" y="54"/>
                  </a:cubicBezTo>
                  <a:cubicBezTo>
                    <a:pt x="0" y="56"/>
                    <a:pt x="0" y="59"/>
                    <a:pt x="0" y="62"/>
                  </a:cubicBezTo>
                  <a:cubicBezTo>
                    <a:pt x="1" y="64"/>
                    <a:pt x="2" y="65"/>
                    <a:pt x="3" y="66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2" y="70"/>
                    <a:pt x="13" y="72"/>
                    <a:pt x="14" y="73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9" y="82"/>
                    <a:pt x="9" y="84"/>
                    <a:pt x="10" y="86"/>
                  </a:cubicBezTo>
                  <a:cubicBezTo>
                    <a:pt x="13" y="90"/>
                    <a:pt x="17" y="94"/>
                    <a:pt x="22" y="97"/>
                  </a:cubicBezTo>
                  <a:cubicBezTo>
                    <a:pt x="23" y="98"/>
                    <a:pt x="25" y="98"/>
                    <a:pt x="26" y="98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6" y="94"/>
                    <a:pt x="37" y="95"/>
                    <a:pt x="39" y="95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6"/>
                    <a:pt x="44" y="107"/>
                    <a:pt x="45" y="107"/>
                  </a:cubicBezTo>
                  <a:cubicBezTo>
                    <a:pt x="48" y="107"/>
                    <a:pt x="51" y="108"/>
                    <a:pt x="53" y="108"/>
                  </a:cubicBezTo>
                  <a:cubicBezTo>
                    <a:pt x="56" y="108"/>
                    <a:pt x="59" y="107"/>
                    <a:pt x="62" y="107"/>
                  </a:cubicBezTo>
                  <a:cubicBezTo>
                    <a:pt x="63" y="107"/>
                    <a:pt x="65" y="106"/>
                    <a:pt x="65" y="104"/>
                  </a:cubicBezTo>
                  <a:cubicBezTo>
                    <a:pt x="68" y="95"/>
                    <a:pt x="68" y="95"/>
                    <a:pt x="68" y="95"/>
                  </a:cubicBezTo>
                  <a:cubicBezTo>
                    <a:pt x="70" y="95"/>
                    <a:pt x="71" y="94"/>
                    <a:pt x="72" y="94"/>
                  </a:cubicBezTo>
                  <a:cubicBezTo>
                    <a:pt x="80" y="98"/>
                    <a:pt x="80" y="98"/>
                    <a:pt x="80" y="98"/>
                  </a:cubicBezTo>
                  <a:cubicBezTo>
                    <a:pt x="82" y="98"/>
                    <a:pt x="84" y="98"/>
                    <a:pt x="85" y="97"/>
                  </a:cubicBezTo>
                  <a:cubicBezTo>
                    <a:pt x="89" y="94"/>
                    <a:pt x="93" y="90"/>
                    <a:pt x="97" y="86"/>
                  </a:cubicBezTo>
                  <a:cubicBezTo>
                    <a:pt x="98" y="84"/>
                    <a:pt x="98" y="82"/>
                    <a:pt x="97" y="81"/>
                  </a:cubicBezTo>
                  <a:cubicBezTo>
                    <a:pt x="93" y="73"/>
                    <a:pt x="93" y="73"/>
                    <a:pt x="93" y="73"/>
                  </a:cubicBezTo>
                  <a:cubicBezTo>
                    <a:pt x="94" y="72"/>
                    <a:pt x="94" y="70"/>
                    <a:pt x="95" y="69"/>
                  </a:cubicBezTo>
                  <a:cubicBezTo>
                    <a:pt x="103" y="66"/>
                    <a:pt x="103" y="66"/>
                    <a:pt x="103" y="66"/>
                  </a:cubicBezTo>
                  <a:cubicBezTo>
                    <a:pt x="105" y="65"/>
                    <a:pt x="106" y="64"/>
                    <a:pt x="106" y="62"/>
                  </a:cubicBezTo>
                  <a:cubicBezTo>
                    <a:pt x="107" y="59"/>
                    <a:pt x="107" y="56"/>
                    <a:pt x="107" y="54"/>
                  </a:cubicBezTo>
                  <a:cubicBezTo>
                    <a:pt x="107" y="51"/>
                    <a:pt x="107" y="49"/>
                    <a:pt x="106" y="46"/>
                  </a:cubicBezTo>
                  <a:close/>
                  <a:moveTo>
                    <a:pt x="98" y="58"/>
                  </a:moveTo>
                  <a:cubicBezTo>
                    <a:pt x="90" y="61"/>
                    <a:pt x="90" y="61"/>
                    <a:pt x="90" y="61"/>
                  </a:cubicBezTo>
                  <a:cubicBezTo>
                    <a:pt x="88" y="61"/>
                    <a:pt x="87" y="62"/>
                    <a:pt x="87" y="64"/>
                  </a:cubicBezTo>
                  <a:cubicBezTo>
                    <a:pt x="86" y="66"/>
                    <a:pt x="85" y="69"/>
                    <a:pt x="84" y="71"/>
                  </a:cubicBezTo>
                  <a:cubicBezTo>
                    <a:pt x="83" y="72"/>
                    <a:pt x="83" y="73"/>
                    <a:pt x="84" y="75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6" y="84"/>
                    <a:pt x="84" y="86"/>
                    <a:pt x="82" y="88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3" y="84"/>
                    <a:pt x="71" y="84"/>
                    <a:pt x="70" y="85"/>
                  </a:cubicBezTo>
                  <a:cubicBezTo>
                    <a:pt x="68" y="86"/>
                    <a:pt x="66" y="87"/>
                    <a:pt x="63" y="87"/>
                  </a:cubicBezTo>
                  <a:cubicBezTo>
                    <a:pt x="62" y="88"/>
                    <a:pt x="61" y="89"/>
                    <a:pt x="60" y="90"/>
                  </a:cubicBezTo>
                  <a:cubicBezTo>
                    <a:pt x="57" y="98"/>
                    <a:pt x="57" y="98"/>
                    <a:pt x="57" y="98"/>
                  </a:cubicBezTo>
                  <a:cubicBezTo>
                    <a:pt x="55" y="98"/>
                    <a:pt x="52" y="98"/>
                    <a:pt x="49" y="98"/>
                  </a:cubicBezTo>
                  <a:cubicBezTo>
                    <a:pt x="47" y="90"/>
                    <a:pt x="47" y="90"/>
                    <a:pt x="47" y="90"/>
                  </a:cubicBezTo>
                  <a:cubicBezTo>
                    <a:pt x="46" y="89"/>
                    <a:pt x="45" y="88"/>
                    <a:pt x="43" y="87"/>
                  </a:cubicBezTo>
                  <a:cubicBezTo>
                    <a:pt x="41" y="87"/>
                    <a:pt x="39" y="86"/>
                    <a:pt x="37" y="85"/>
                  </a:cubicBezTo>
                  <a:cubicBezTo>
                    <a:pt x="35" y="84"/>
                    <a:pt x="34" y="84"/>
                    <a:pt x="33" y="84"/>
                  </a:cubicBezTo>
                  <a:cubicBezTo>
                    <a:pt x="25" y="88"/>
                    <a:pt x="25" y="88"/>
                    <a:pt x="25" y="88"/>
                  </a:cubicBezTo>
                  <a:cubicBezTo>
                    <a:pt x="23" y="86"/>
                    <a:pt x="21" y="84"/>
                    <a:pt x="19" y="82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3" y="73"/>
                    <a:pt x="23" y="72"/>
                    <a:pt x="23" y="71"/>
                  </a:cubicBezTo>
                  <a:cubicBezTo>
                    <a:pt x="22" y="69"/>
                    <a:pt x="21" y="66"/>
                    <a:pt x="20" y="64"/>
                  </a:cubicBezTo>
                  <a:cubicBezTo>
                    <a:pt x="20" y="62"/>
                    <a:pt x="18" y="61"/>
                    <a:pt x="17" y="61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7"/>
                    <a:pt x="9" y="55"/>
                    <a:pt x="9" y="54"/>
                  </a:cubicBezTo>
                  <a:cubicBezTo>
                    <a:pt x="9" y="53"/>
                    <a:pt x="9" y="51"/>
                    <a:pt x="9" y="50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8" y="47"/>
                    <a:pt x="20" y="45"/>
                    <a:pt x="20" y="44"/>
                  </a:cubicBezTo>
                  <a:cubicBezTo>
                    <a:pt x="21" y="42"/>
                    <a:pt x="22" y="39"/>
                    <a:pt x="23" y="37"/>
                  </a:cubicBezTo>
                  <a:cubicBezTo>
                    <a:pt x="23" y="36"/>
                    <a:pt x="23" y="34"/>
                    <a:pt x="23" y="33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3" y="22"/>
                    <a:pt x="25" y="20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4"/>
                    <a:pt x="37" y="23"/>
                  </a:cubicBezTo>
                  <a:cubicBezTo>
                    <a:pt x="39" y="22"/>
                    <a:pt x="41" y="21"/>
                    <a:pt x="43" y="21"/>
                  </a:cubicBezTo>
                  <a:cubicBezTo>
                    <a:pt x="45" y="20"/>
                    <a:pt x="46" y="19"/>
                    <a:pt x="47" y="18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52" y="9"/>
                    <a:pt x="55" y="9"/>
                    <a:pt x="57" y="10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1" y="19"/>
                    <a:pt x="62" y="20"/>
                    <a:pt x="63" y="21"/>
                  </a:cubicBezTo>
                  <a:cubicBezTo>
                    <a:pt x="66" y="21"/>
                    <a:pt x="68" y="22"/>
                    <a:pt x="70" y="23"/>
                  </a:cubicBezTo>
                  <a:cubicBezTo>
                    <a:pt x="71" y="24"/>
                    <a:pt x="73" y="24"/>
                    <a:pt x="74" y="23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4" y="22"/>
                    <a:pt x="86" y="23"/>
                    <a:pt x="88" y="26"/>
                  </a:cubicBezTo>
                  <a:cubicBezTo>
                    <a:pt x="84" y="33"/>
                    <a:pt x="84" y="33"/>
                    <a:pt x="84" y="33"/>
                  </a:cubicBezTo>
                  <a:cubicBezTo>
                    <a:pt x="83" y="34"/>
                    <a:pt x="83" y="36"/>
                    <a:pt x="84" y="37"/>
                  </a:cubicBezTo>
                  <a:cubicBezTo>
                    <a:pt x="85" y="39"/>
                    <a:pt x="86" y="42"/>
                    <a:pt x="87" y="44"/>
                  </a:cubicBezTo>
                  <a:cubicBezTo>
                    <a:pt x="87" y="45"/>
                    <a:pt x="88" y="47"/>
                    <a:pt x="90" y="47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3"/>
                    <a:pt x="98" y="54"/>
                  </a:cubicBezTo>
                  <a:cubicBezTo>
                    <a:pt x="98" y="55"/>
                    <a:pt x="98" y="57"/>
                    <a:pt x="98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Freeform 15"/>
            <p:cNvSpPr>
              <a:spLocks noEditPoints="1"/>
            </p:cNvSpPr>
            <p:nvPr/>
          </p:nvSpPr>
          <p:spPr bwMode="auto">
            <a:xfrm>
              <a:off x="70" y="70"/>
              <a:ext cx="93" cy="92"/>
            </a:xfrm>
            <a:custGeom>
              <a:avLst/>
              <a:gdLst>
                <a:gd name="T0" fmla="*/ 97 w 43"/>
                <a:gd name="T1" fmla="*/ 0 h 42"/>
                <a:gd name="T2" fmla="*/ 0 w 43"/>
                <a:gd name="T3" fmla="*/ 101 h 42"/>
                <a:gd name="T4" fmla="*/ 97 w 43"/>
                <a:gd name="T5" fmla="*/ 202 h 42"/>
                <a:gd name="T6" fmla="*/ 201 w 43"/>
                <a:gd name="T7" fmla="*/ 101 h 42"/>
                <a:gd name="T8" fmla="*/ 97 w 43"/>
                <a:gd name="T9" fmla="*/ 0 h 42"/>
                <a:gd name="T10" fmla="*/ 97 w 43"/>
                <a:gd name="T11" fmla="*/ 158 h 42"/>
                <a:gd name="T12" fmla="*/ 41 w 43"/>
                <a:gd name="T13" fmla="*/ 101 h 42"/>
                <a:gd name="T14" fmla="*/ 97 w 43"/>
                <a:gd name="T15" fmla="*/ 44 h 42"/>
                <a:gd name="T16" fmla="*/ 154 w 43"/>
                <a:gd name="T17" fmla="*/ 101 h 42"/>
                <a:gd name="T18" fmla="*/ 97 w 43"/>
                <a:gd name="T19" fmla="*/ 158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3" h="42">
                  <a:moveTo>
                    <a:pt x="21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1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1" y="0"/>
                  </a:cubicBezTo>
                  <a:close/>
                  <a:moveTo>
                    <a:pt x="21" y="33"/>
                  </a:moveTo>
                  <a:cubicBezTo>
                    <a:pt x="15" y="33"/>
                    <a:pt x="9" y="28"/>
                    <a:pt x="9" y="21"/>
                  </a:cubicBezTo>
                  <a:cubicBezTo>
                    <a:pt x="9" y="14"/>
                    <a:pt x="15" y="9"/>
                    <a:pt x="21" y="9"/>
                  </a:cubicBezTo>
                  <a:cubicBezTo>
                    <a:pt x="28" y="9"/>
                    <a:pt x="33" y="14"/>
                    <a:pt x="33" y="21"/>
                  </a:cubicBezTo>
                  <a:cubicBezTo>
                    <a:pt x="33" y="28"/>
                    <a:pt x="28" y="33"/>
                    <a:pt x="2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39" name="Group 16"/>
          <p:cNvGrpSpPr/>
          <p:nvPr/>
        </p:nvGrpSpPr>
        <p:grpSpPr bwMode="auto">
          <a:xfrm>
            <a:off x="9266767" y="3481261"/>
            <a:ext cx="491067" cy="499533"/>
            <a:chOff x="0" y="0"/>
            <a:chExt cx="232" cy="236"/>
          </a:xfrm>
          <a:solidFill>
            <a:srgbClr val="2A3E56"/>
          </a:solidFill>
        </p:grpSpPr>
        <p:sp>
          <p:nvSpPr>
            <p:cNvPr id="40" name="Freeform 17"/>
            <p:cNvSpPr/>
            <p:nvPr/>
          </p:nvSpPr>
          <p:spPr bwMode="auto">
            <a:xfrm>
              <a:off x="0" y="0"/>
              <a:ext cx="232" cy="168"/>
            </a:xfrm>
            <a:custGeom>
              <a:avLst/>
              <a:gdLst>
                <a:gd name="T0" fmla="*/ 392 w 106"/>
                <a:gd name="T1" fmla="*/ 133 h 77"/>
                <a:gd name="T2" fmla="*/ 370 w 106"/>
                <a:gd name="T3" fmla="*/ 137 h 77"/>
                <a:gd name="T4" fmla="*/ 370 w 106"/>
                <a:gd name="T5" fmla="*/ 129 h 77"/>
                <a:gd name="T6" fmla="*/ 239 w 106"/>
                <a:gd name="T7" fmla="*/ 0 h 77"/>
                <a:gd name="T8" fmla="*/ 120 w 106"/>
                <a:gd name="T9" fmla="*/ 105 h 77"/>
                <a:gd name="T10" fmla="*/ 81 w 106"/>
                <a:gd name="T11" fmla="*/ 109 h 77"/>
                <a:gd name="T12" fmla="*/ 81 w 106"/>
                <a:gd name="T13" fmla="*/ 109 h 77"/>
                <a:gd name="T14" fmla="*/ 28 w 106"/>
                <a:gd name="T15" fmla="*/ 185 h 77"/>
                <a:gd name="T16" fmla="*/ 39 w 106"/>
                <a:gd name="T17" fmla="*/ 218 h 77"/>
                <a:gd name="T18" fmla="*/ 0 w 106"/>
                <a:gd name="T19" fmla="*/ 286 h 77"/>
                <a:gd name="T20" fmla="*/ 81 w 106"/>
                <a:gd name="T21" fmla="*/ 367 h 77"/>
                <a:gd name="T22" fmla="*/ 169 w 106"/>
                <a:gd name="T23" fmla="*/ 367 h 77"/>
                <a:gd name="T24" fmla="*/ 186 w 106"/>
                <a:gd name="T25" fmla="*/ 347 h 77"/>
                <a:gd name="T26" fmla="*/ 169 w 106"/>
                <a:gd name="T27" fmla="*/ 323 h 77"/>
                <a:gd name="T28" fmla="*/ 81 w 106"/>
                <a:gd name="T29" fmla="*/ 323 h 77"/>
                <a:gd name="T30" fmla="*/ 44 w 106"/>
                <a:gd name="T31" fmla="*/ 286 h 77"/>
                <a:gd name="T32" fmla="*/ 77 w 106"/>
                <a:gd name="T33" fmla="*/ 253 h 77"/>
                <a:gd name="T34" fmla="*/ 96 w 106"/>
                <a:gd name="T35" fmla="*/ 238 h 77"/>
                <a:gd name="T36" fmla="*/ 85 w 106"/>
                <a:gd name="T37" fmla="*/ 214 h 77"/>
                <a:gd name="T38" fmla="*/ 72 w 106"/>
                <a:gd name="T39" fmla="*/ 185 h 77"/>
                <a:gd name="T40" fmla="*/ 96 w 106"/>
                <a:gd name="T41" fmla="*/ 153 h 77"/>
                <a:gd name="T42" fmla="*/ 96 w 106"/>
                <a:gd name="T43" fmla="*/ 153 h 77"/>
                <a:gd name="T44" fmla="*/ 129 w 106"/>
                <a:gd name="T45" fmla="*/ 153 h 77"/>
                <a:gd name="T46" fmla="*/ 149 w 106"/>
                <a:gd name="T47" fmla="*/ 153 h 77"/>
                <a:gd name="T48" fmla="*/ 162 w 106"/>
                <a:gd name="T49" fmla="*/ 133 h 77"/>
                <a:gd name="T50" fmla="*/ 158 w 106"/>
                <a:gd name="T51" fmla="*/ 129 h 77"/>
                <a:gd name="T52" fmla="*/ 158 w 106"/>
                <a:gd name="T53" fmla="*/ 129 h 77"/>
                <a:gd name="T54" fmla="*/ 239 w 106"/>
                <a:gd name="T55" fmla="*/ 44 h 77"/>
                <a:gd name="T56" fmla="*/ 322 w 106"/>
                <a:gd name="T57" fmla="*/ 129 h 77"/>
                <a:gd name="T58" fmla="*/ 311 w 106"/>
                <a:gd name="T59" fmla="*/ 166 h 77"/>
                <a:gd name="T60" fmla="*/ 315 w 106"/>
                <a:gd name="T61" fmla="*/ 194 h 77"/>
                <a:gd name="T62" fmla="*/ 346 w 106"/>
                <a:gd name="T63" fmla="*/ 194 h 77"/>
                <a:gd name="T64" fmla="*/ 392 w 106"/>
                <a:gd name="T65" fmla="*/ 181 h 77"/>
                <a:gd name="T66" fmla="*/ 464 w 106"/>
                <a:gd name="T67" fmla="*/ 253 h 77"/>
                <a:gd name="T68" fmla="*/ 392 w 106"/>
                <a:gd name="T69" fmla="*/ 323 h 77"/>
                <a:gd name="T70" fmla="*/ 339 w 106"/>
                <a:gd name="T71" fmla="*/ 323 h 77"/>
                <a:gd name="T72" fmla="*/ 322 w 106"/>
                <a:gd name="T73" fmla="*/ 347 h 77"/>
                <a:gd name="T74" fmla="*/ 339 w 106"/>
                <a:gd name="T75" fmla="*/ 367 h 77"/>
                <a:gd name="T76" fmla="*/ 392 w 106"/>
                <a:gd name="T77" fmla="*/ 367 h 77"/>
                <a:gd name="T78" fmla="*/ 508 w 106"/>
                <a:gd name="T79" fmla="*/ 253 h 77"/>
                <a:gd name="T80" fmla="*/ 392 w 106"/>
                <a:gd name="T81" fmla="*/ 133 h 7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6" h="77">
                  <a:moveTo>
                    <a:pt x="82" y="28"/>
                  </a:moveTo>
                  <a:cubicBezTo>
                    <a:pt x="80" y="28"/>
                    <a:pt x="78" y="29"/>
                    <a:pt x="77" y="29"/>
                  </a:cubicBezTo>
                  <a:cubicBezTo>
                    <a:pt x="77" y="28"/>
                    <a:pt x="77" y="27"/>
                    <a:pt x="77" y="27"/>
                  </a:cubicBezTo>
                  <a:cubicBezTo>
                    <a:pt x="77" y="12"/>
                    <a:pt x="65" y="0"/>
                    <a:pt x="50" y="0"/>
                  </a:cubicBezTo>
                  <a:cubicBezTo>
                    <a:pt x="37" y="0"/>
                    <a:pt x="27" y="10"/>
                    <a:pt x="25" y="22"/>
                  </a:cubicBezTo>
                  <a:cubicBezTo>
                    <a:pt x="22" y="22"/>
                    <a:pt x="19" y="22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0" y="26"/>
                    <a:pt x="6" y="32"/>
                    <a:pt x="6" y="39"/>
                  </a:cubicBezTo>
                  <a:cubicBezTo>
                    <a:pt x="6" y="41"/>
                    <a:pt x="7" y="44"/>
                    <a:pt x="8" y="46"/>
                  </a:cubicBezTo>
                  <a:cubicBezTo>
                    <a:pt x="3" y="49"/>
                    <a:pt x="0" y="55"/>
                    <a:pt x="0" y="60"/>
                  </a:cubicBezTo>
                  <a:cubicBezTo>
                    <a:pt x="0" y="70"/>
                    <a:pt x="8" y="77"/>
                    <a:pt x="17" y="77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7" y="77"/>
                    <a:pt x="39" y="75"/>
                    <a:pt x="39" y="73"/>
                  </a:cubicBezTo>
                  <a:cubicBezTo>
                    <a:pt x="39" y="70"/>
                    <a:pt x="37" y="68"/>
                    <a:pt x="35" y="68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3" y="68"/>
                    <a:pt x="9" y="65"/>
                    <a:pt x="9" y="60"/>
                  </a:cubicBezTo>
                  <a:cubicBezTo>
                    <a:pt x="9" y="57"/>
                    <a:pt x="12" y="53"/>
                    <a:pt x="16" y="53"/>
                  </a:cubicBezTo>
                  <a:cubicBezTo>
                    <a:pt x="18" y="53"/>
                    <a:pt x="19" y="51"/>
                    <a:pt x="20" y="50"/>
                  </a:cubicBezTo>
                  <a:cubicBezTo>
                    <a:pt x="20" y="48"/>
                    <a:pt x="20" y="46"/>
                    <a:pt x="18" y="45"/>
                  </a:cubicBezTo>
                  <a:cubicBezTo>
                    <a:pt x="16" y="43"/>
                    <a:pt x="15" y="41"/>
                    <a:pt x="15" y="39"/>
                  </a:cubicBezTo>
                  <a:cubicBezTo>
                    <a:pt x="15" y="36"/>
                    <a:pt x="17" y="33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1"/>
                    <a:pt x="25" y="31"/>
                    <a:pt x="27" y="32"/>
                  </a:cubicBezTo>
                  <a:cubicBezTo>
                    <a:pt x="28" y="33"/>
                    <a:pt x="30" y="33"/>
                    <a:pt x="31" y="32"/>
                  </a:cubicBezTo>
                  <a:cubicBezTo>
                    <a:pt x="33" y="31"/>
                    <a:pt x="34" y="30"/>
                    <a:pt x="34" y="28"/>
                  </a:cubicBezTo>
                  <a:cubicBezTo>
                    <a:pt x="33" y="28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17"/>
                    <a:pt x="41" y="9"/>
                    <a:pt x="50" y="9"/>
                  </a:cubicBezTo>
                  <a:cubicBezTo>
                    <a:pt x="60" y="9"/>
                    <a:pt x="67" y="17"/>
                    <a:pt x="67" y="27"/>
                  </a:cubicBezTo>
                  <a:cubicBezTo>
                    <a:pt x="67" y="30"/>
                    <a:pt x="67" y="33"/>
                    <a:pt x="65" y="35"/>
                  </a:cubicBezTo>
                  <a:cubicBezTo>
                    <a:pt x="64" y="37"/>
                    <a:pt x="64" y="40"/>
                    <a:pt x="66" y="41"/>
                  </a:cubicBezTo>
                  <a:cubicBezTo>
                    <a:pt x="68" y="43"/>
                    <a:pt x="70" y="43"/>
                    <a:pt x="72" y="41"/>
                  </a:cubicBezTo>
                  <a:cubicBezTo>
                    <a:pt x="74" y="40"/>
                    <a:pt x="77" y="38"/>
                    <a:pt x="82" y="38"/>
                  </a:cubicBezTo>
                  <a:cubicBezTo>
                    <a:pt x="90" y="38"/>
                    <a:pt x="97" y="44"/>
                    <a:pt x="97" y="53"/>
                  </a:cubicBezTo>
                  <a:cubicBezTo>
                    <a:pt x="97" y="61"/>
                    <a:pt x="90" y="68"/>
                    <a:pt x="82" y="6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69" y="68"/>
                    <a:pt x="67" y="70"/>
                    <a:pt x="67" y="73"/>
                  </a:cubicBezTo>
                  <a:cubicBezTo>
                    <a:pt x="67" y="75"/>
                    <a:pt x="69" y="77"/>
                    <a:pt x="71" y="77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95" y="77"/>
                    <a:pt x="106" y="66"/>
                    <a:pt x="106" y="53"/>
                  </a:cubicBezTo>
                  <a:cubicBezTo>
                    <a:pt x="106" y="39"/>
                    <a:pt x="95" y="28"/>
                    <a:pt x="82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" name="Freeform 18"/>
            <p:cNvSpPr/>
            <p:nvPr/>
          </p:nvSpPr>
          <p:spPr bwMode="auto">
            <a:xfrm>
              <a:off x="70" y="94"/>
              <a:ext cx="92" cy="142"/>
            </a:xfrm>
            <a:custGeom>
              <a:avLst/>
              <a:gdLst>
                <a:gd name="T0" fmla="*/ 158 w 42"/>
                <a:gd name="T1" fmla="*/ 197 h 65"/>
                <a:gd name="T2" fmla="*/ 125 w 42"/>
                <a:gd name="T3" fmla="*/ 234 h 65"/>
                <a:gd name="T4" fmla="*/ 125 w 42"/>
                <a:gd name="T5" fmla="*/ 24 h 65"/>
                <a:gd name="T6" fmla="*/ 101 w 42"/>
                <a:gd name="T7" fmla="*/ 0 h 65"/>
                <a:gd name="T8" fmla="*/ 77 w 42"/>
                <a:gd name="T9" fmla="*/ 24 h 65"/>
                <a:gd name="T10" fmla="*/ 77 w 42"/>
                <a:gd name="T11" fmla="*/ 234 h 65"/>
                <a:gd name="T12" fmla="*/ 44 w 42"/>
                <a:gd name="T13" fmla="*/ 197 h 65"/>
                <a:gd name="T14" fmla="*/ 9 w 42"/>
                <a:gd name="T15" fmla="*/ 197 h 65"/>
                <a:gd name="T16" fmla="*/ 9 w 42"/>
                <a:gd name="T17" fmla="*/ 229 h 65"/>
                <a:gd name="T18" fmla="*/ 85 w 42"/>
                <a:gd name="T19" fmla="*/ 301 h 65"/>
                <a:gd name="T20" fmla="*/ 101 w 42"/>
                <a:gd name="T21" fmla="*/ 310 h 65"/>
                <a:gd name="T22" fmla="*/ 116 w 42"/>
                <a:gd name="T23" fmla="*/ 301 h 65"/>
                <a:gd name="T24" fmla="*/ 193 w 42"/>
                <a:gd name="T25" fmla="*/ 229 h 65"/>
                <a:gd name="T26" fmla="*/ 193 w 42"/>
                <a:gd name="T27" fmla="*/ 197 h 65"/>
                <a:gd name="T28" fmla="*/ 158 w 42"/>
                <a:gd name="T29" fmla="*/ 197 h 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" h="65">
                  <a:moveTo>
                    <a:pt x="33" y="41"/>
                  </a:moveTo>
                  <a:cubicBezTo>
                    <a:pt x="26" y="49"/>
                    <a:pt x="26" y="49"/>
                    <a:pt x="26" y="49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3"/>
                    <a:pt x="24" y="0"/>
                    <a:pt x="21" y="0"/>
                  </a:cubicBezTo>
                  <a:cubicBezTo>
                    <a:pt x="18" y="0"/>
                    <a:pt x="16" y="3"/>
                    <a:pt x="16" y="5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39"/>
                    <a:pt x="4" y="39"/>
                    <a:pt x="2" y="41"/>
                  </a:cubicBezTo>
                  <a:cubicBezTo>
                    <a:pt x="0" y="43"/>
                    <a:pt x="0" y="46"/>
                    <a:pt x="2" y="48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9" y="64"/>
                    <a:pt x="20" y="65"/>
                    <a:pt x="21" y="65"/>
                  </a:cubicBezTo>
                  <a:cubicBezTo>
                    <a:pt x="22" y="65"/>
                    <a:pt x="23" y="64"/>
                    <a:pt x="24" y="63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2" y="46"/>
                    <a:pt x="42" y="43"/>
                    <a:pt x="40" y="41"/>
                  </a:cubicBezTo>
                  <a:cubicBezTo>
                    <a:pt x="38" y="39"/>
                    <a:pt x="35" y="39"/>
                    <a:pt x="3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57804" y="798291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2.2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3490" y="702310"/>
            <a:ext cx="71494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Research method: Weighted-deepTL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rcRect r="1340" b="23261"/>
          <a:stretch>
            <a:fillRect/>
          </a:stretch>
        </p:blipFill>
        <p:spPr>
          <a:xfrm>
            <a:off x="7864100" y="3332964"/>
            <a:ext cx="3672480" cy="35189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77036" y="3266647"/>
            <a:ext cx="6886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</a:rPr>
              <a:t>Semi-Parametric model after Robinson-transformation:</a:t>
            </a:r>
            <a:r>
              <a:rPr lang="en-US" sz="2400" dirty="0">
                <a:latin typeface="Georgia" panose="02040502050405090303" pitchFamily="18" charset="0"/>
              </a:rPr>
              <a:t> </a:t>
            </a:r>
            <a:endParaRPr lang="en-US" sz="2400" dirty="0">
              <a:latin typeface="Georgia" panose="02040502050405090303" pitchFamily="18" charset="0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064" y="1698831"/>
            <a:ext cx="3441700" cy="15875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77036" y="1298798"/>
            <a:ext cx="8129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</a:rPr>
              <a:t>Estimate </a:t>
            </a:r>
            <a:r>
              <a:rPr lang="el-GR" sz="2000" dirty="0">
                <a:latin typeface="Georgia" panose="02040502050405090303" pitchFamily="18" charset="0"/>
              </a:rPr>
              <a:t>μ</a:t>
            </a:r>
            <a:r>
              <a:rPr lang="en-US" sz="2000" dirty="0">
                <a:latin typeface="Georgia" panose="02040502050405090303" pitchFamily="18" charset="0"/>
              </a:rPr>
              <a:t> = E(Y|X) and e = E(Z|X) by minimizing loss functions: </a:t>
            </a:r>
            <a:endParaRPr lang="en-US" sz="2000" dirty="0">
              <a:latin typeface="Georgia" panose="02040502050405090303" pitchFamily="18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rcRect r="692" b="6311"/>
          <a:stretch>
            <a:fillRect/>
          </a:stretch>
        </p:blipFill>
        <p:spPr>
          <a:xfrm>
            <a:off x="1569064" y="3727954"/>
            <a:ext cx="6583534" cy="79720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064" y="5106263"/>
            <a:ext cx="3568700" cy="7239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77036" y="4608573"/>
            <a:ext cx="7818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</a:rPr>
              <a:t>Revised version (add a global plug-in </a:t>
            </a:r>
            <a:r>
              <a:rPr lang="en-US" sz="2000" dirty="0">
                <a:latin typeface="Georgia" panose="02040502050405090303" pitchFamily="18" charset="0"/>
                <a:ea typeface="Batang" panose="02030600000101010101" pitchFamily="18" charset="-127"/>
                <a:cs typeface="DejaVu Math TeX Gyre" panose="02000503000000000000" charset="0"/>
              </a:rPr>
              <a:t>τ</a:t>
            </a:r>
            <a:r>
              <a:rPr lang="en-US" sz="2000" baseline="-25000" dirty="0">
                <a:latin typeface="Georgia" panose="02040502050405090303" pitchFamily="18" charset="0"/>
                <a:ea typeface="Batang" panose="02030600000101010101" pitchFamily="18" charset="-127"/>
                <a:cs typeface="DejaVu Math TeX Gyre" panose="02000503000000000000" charset="0"/>
              </a:rPr>
              <a:t>0</a:t>
            </a:r>
            <a:r>
              <a:rPr lang="en-US" sz="2000" dirty="0">
                <a:latin typeface="Georgia" panose="02040502050405090303" pitchFamily="18" charset="0"/>
                <a:ea typeface="Batang" panose="02030600000101010101" pitchFamily="18" charset="-127"/>
                <a:cs typeface="DejaVu Math TeX Gyre" panose="02000503000000000000" charset="0"/>
              </a:rPr>
              <a:t>)</a:t>
            </a:r>
            <a:r>
              <a:rPr lang="en-US" sz="2000" dirty="0">
                <a:latin typeface="Georgia" panose="02040502050405090303" pitchFamily="18" charset="0"/>
              </a:rPr>
              <a:t>: </a:t>
            </a:r>
            <a:endParaRPr lang="en-US" sz="2000" dirty="0">
              <a:latin typeface="Georgia" panose="02040502050405090303" pitchFamily="18" charset="0"/>
            </a:endParaRP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877" y="5039052"/>
            <a:ext cx="5698672" cy="7507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3373532" y="706532"/>
            <a:ext cx="5444936" cy="544493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091437" y="3146133"/>
            <a:ext cx="20091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  <a:latin typeface="STSong" panose="02010600040101010101" charset="-122"/>
                <a:ea typeface="STSong" panose="02010600040101010101" charset="-122"/>
              </a:rPr>
              <a:t>Data Set</a:t>
            </a:r>
            <a:endParaRPr lang="en-US" altLang="zh-CN" sz="4000" b="1" dirty="0">
              <a:solidFill>
                <a:schemeClr val="tx1"/>
              </a:solidFill>
              <a:latin typeface="STSong" panose="02010600040101010101" charset="-122"/>
              <a:ea typeface="STSong" panose="020106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83635" y="2499803"/>
            <a:ext cx="14247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 Light" panose="020B0502040204020203" pitchFamily="34" charset="-122"/>
              </a:rPr>
              <a:t>Part 03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57804" y="798291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3.1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71684" y="676376"/>
            <a:ext cx="40525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Simulation Data Set 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77290" y="1411605"/>
            <a:ext cx="10107295" cy="4474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Scenario A: Complex nuisance components but a simple treatment effect function.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Scenario B: A randomized trial where treatment is independent of covariates.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 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2052955"/>
            <a:ext cx="8651875" cy="11976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205" y="3914775"/>
            <a:ext cx="6722110" cy="1788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57804" y="798291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400" dirty="0">
                <a:solidFill>
                  <a:schemeClr val="bg1"/>
                </a:solidFill>
              </a:rPr>
              <a:t>3.1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71684" y="676376"/>
            <a:ext cx="4052570" cy="46166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Simulation Data Set 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71905" y="1411605"/>
            <a:ext cx="10433050" cy="4723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  <a:sym typeface="+mn-ea"/>
              </a:rPr>
              <a:t>Scenario C:  Strong confounding but an easily estimated propensity score.</a:t>
            </a:r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  <a:sym typeface="+mn-ea"/>
              </a:rPr>
              <a:t>Scenario D:  No correlation between treatment and control responses.</a:t>
            </a:r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  <a:p>
            <a:endParaRPr lang="en-US" sz="20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685" y="1935480"/>
            <a:ext cx="6130925" cy="13944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685" y="4161155"/>
            <a:ext cx="6557010" cy="1848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57804" y="798291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3.2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71684" y="676376"/>
            <a:ext cx="40525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Lung Transplant Data Set 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70096" y="1419085"/>
            <a:ext cx="104349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Data source: United Network for Organ Sharing (UNOS)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Z: Lung </a:t>
            </a:r>
            <a:r>
              <a:rPr lang="en-US" sz="2000" dirty="0" err="1">
                <a:latin typeface="Georgia" panose="02040502050405090303" pitchFamily="18" charset="0"/>
                <a:ea typeface="Apple LiSung" charset="-120"/>
              </a:rPr>
              <a:t>Tranplant</a:t>
            </a: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 Type (BLT = 1, SLT = 0) 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Y: FEV1, measured at the second follow-up visit 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X: 26 potential confounders (</a:t>
            </a:r>
            <a:r>
              <a:rPr lang="en-US" sz="2000" dirty="0">
                <a:latin typeface="Georgia" panose="02040502050405090303" pitchFamily="18" charset="0"/>
                <a:ea typeface="Apple LiSung" charset="-120"/>
                <a:sym typeface="+mn-ea"/>
              </a:rPr>
              <a:t>height, weight, race, gender, age, time ...)</a:t>
            </a:r>
            <a:endParaRPr lang="en-US" sz="2000" dirty="0">
              <a:latin typeface="Georgia" panose="02040502050405090303" pitchFamily="18" charset="0"/>
              <a:ea typeface="Apple LiSung" charset="-120"/>
              <a:sym typeface="+mn-ea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Georgia" panose="02040502050405090303" pitchFamily="18" charset="0"/>
              <a:ea typeface="Apple LiSung" charset="-120"/>
              <a:sym typeface="+mn-ea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Total sample size N = 20920 (14671 BLT, 6249 SLT)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000" dirty="0">
                <a:latin typeface="Georgia" panose="02040502050405090303" pitchFamily="18" charset="0"/>
                <a:ea typeface="Apple LiSung" charset="-120"/>
              </a:rPr>
              <a:t>Non-missing sample size n = 14306 (9758 BLT, 4548 SLT)</a:t>
            </a:r>
            <a:endParaRPr lang="en-US" sz="2000" dirty="0">
              <a:latin typeface="Georgia" panose="02040502050405090303" pitchFamily="18" charset="0"/>
              <a:ea typeface="Apple LiSung" charset="-12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000" dirty="0">
              <a:latin typeface="Apple LiSung" charset="-120"/>
              <a:ea typeface="Apple LiSung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3373532" y="706532"/>
            <a:ext cx="5444936" cy="544493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829474" y="3146133"/>
            <a:ext cx="25330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Song" panose="02010600040101010101" charset="-122"/>
                <a:ea typeface="STSong" panose="02010600040101010101" charset="-122"/>
                <a:sym typeface="+mn-ea"/>
              </a:rPr>
              <a:t>Results &amp;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STSong" panose="02010600040101010101" charset="-122"/>
              <a:ea typeface="STSong" panose="02010600040101010101" charset="-122"/>
              <a:sym typeface="+mn-ea"/>
            </a:endParaRPr>
          </a:p>
          <a:p>
            <a:pPr algn="ctr"/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Song" panose="02010600040101010101" charset="-122"/>
                <a:ea typeface="STSong" panose="02010600040101010101" charset="-122"/>
                <a:sym typeface="+mn-ea"/>
              </a:rPr>
              <a:t>Discussion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STSong" panose="02010600040101010101" charset="-122"/>
              <a:ea typeface="STSong" panose="02010600040101010101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83635" y="2499803"/>
            <a:ext cx="14247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 Light" panose="020B0502040204020203" pitchFamily="34" charset="-122"/>
              </a:rPr>
              <a:t>Part 04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70504" y="798291"/>
            <a:ext cx="43053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4.1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56995" y="753110"/>
            <a:ext cx="36868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Results: Simulation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995" y="1372870"/>
            <a:ext cx="9355455" cy="45002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485" y="1692910"/>
            <a:ext cx="1098550" cy="38398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"/>
          <p:cNvSpPr/>
          <p:nvPr/>
        </p:nvSpPr>
        <p:spPr>
          <a:xfrm>
            <a:off x="670504" y="798291"/>
            <a:ext cx="430530" cy="30670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400" dirty="0">
                <a:solidFill>
                  <a:schemeClr val="bg1"/>
                </a:solidFill>
              </a:rPr>
              <a:t>4.1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330325" y="7061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Results: Simulation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1323975"/>
            <a:ext cx="9331325" cy="45542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615" y="1602105"/>
            <a:ext cx="1217930" cy="3997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"/>
          <p:cNvSpPr/>
          <p:nvPr/>
        </p:nvSpPr>
        <p:spPr>
          <a:xfrm>
            <a:off x="670504" y="798291"/>
            <a:ext cx="430530" cy="30670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400" dirty="0">
                <a:solidFill>
                  <a:schemeClr val="bg1"/>
                </a:solidFill>
              </a:rPr>
              <a:t>4.1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53185" y="7061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Discussions: Simulation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77290" y="1485265"/>
            <a:ext cx="10433050" cy="4549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"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Proposed methods (weighted-deepTL) constantly performs well across scenarios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"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"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Effectively adjust for confounding structure, outperform in Scenario C and D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"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"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Revised framework further improve the performance of models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"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Wingdings" panose="05000000000000000000" charset="0"/>
              <a:buChar char=""/>
            </a:pPr>
            <a:endParaRPr 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Remain time-consuming and blackbox (lack of interpretability)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Not the best choice for simple structure (Scenario A and B) 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May need more scenarios to test the model’s generalizability 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"/>
          <p:cNvSpPr/>
          <p:nvPr/>
        </p:nvSpPr>
        <p:spPr>
          <a:xfrm>
            <a:off x="670504" y="798291"/>
            <a:ext cx="430530" cy="30670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400" dirty="0">
                <a:solidFill>
                  <a:schemeClr val="bg1"/>
                </a:solidFill>
              </a:rPr>
              <a:t>4.2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12545" y="758190"/>
            <a:ext cx="6519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Initial Results: Lung Transplant Data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090" y="1955800"/>
            <a:ext cx="4897120" cy="3429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/>
              <p:cNvSpPr txBox="1"/>
              <p:nvPr/>
            </p:nvSpPr>
            <p:spPr>
              <a:xfrm>
                <a:off x="2213610" y="1414780"/>
                <a:ext cx="419608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                  </a:t>
                </a: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(X)</a:t>
                </a:r>
                <a:r>
                  <a:rPr lang="en-US"/>
                  <a:t> </a:t>
                </a:r>
                <a:endParaRPr lang="en-US"/>
              </a:p>
            </p:txBody>
          </p:sp>
        </mc:Choice>
        <mc:Fallback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610" y="1414780"/>
                <a:ext cx="4196080" cy="3987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210" y="1955800"/>
            <a:ext cx="4896485" cy="34817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7085330" y="1387475"/>
                <a:ext cx="368681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Bootstrap Var(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  <a:sym typeface="+mn-ea"/>
                  </a:rPr>
                  <a:t>(X))</a:t>
                </a:r>
                <a:r>
                  <a:rPr lang="en-US"/>
                  <a:t> </a:t>
                </a:r>
                <a:endParaRPr lang="en-US"/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330" y="1387475"/>
                <a:ext cx="3686810" cy="3987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"/>
          <p:cNvSpPr/>
          <p:nvPr/>
        </p:nvSpPr>
        <p:spPr>
          <a:xfrm>
            <a:off x="670504" y="798291"/>
            <a:ext cx="430530" cy="30670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400" dirty="0">
                <a:solidFill>
                  <a:schemeClr val="bg1"/>
                </a:solidFill>
              </a:rPr>
              <a:t>4.2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435735" y="7581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Discussions &amp; Future work </a:t>
            </a:r>
            <a:endParaRPr lang="en-US" sz="24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/>
              <p:cNvSpPr txBox="1"/>
              <p:nvPr/>
            </p:nvSpPr>
            <p:spPr>
              <a:xfrm>
                <a:off x="1177290" y="1644015"/>
                <a:ext cx="9471025" cy="286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buFont typeface="Arial" panose="020B0704020202020204" pitchFamily="34" charset="0"/>
                  <a:buChar char="•"/>
                </a:pP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Use Simulations to verify the validation of Bootstrap for estimating variance</a:t>
                </a:r>
                <a:endParaRPr lang="en-US" sz="2000">
                  <a:latin typeface="Georgia Regular" panose="02040502050405090303" charset="0"/>
                  <a:cs typeface="Georgia Regular" panose="02040502050405090303" charset="0"/>
                </a:endParaRPr>
              </a:p>
              <a:p>
                <a:pPr marL="342900" indent="-342900">
                  <a:buFont typeface="Arial" panose="020B0704020202020204" pitchFamily="34" charset="0"/>
                  <a:buChar char="•"/>
                </a:pPr>
                <a:endParaRPr lang="en-US" sz="2000">
                  <a:latin typeface="Georgia Regular" panose="02040502050405090303" charset="0"/>
                  <a:cs typeface="Georgia Regular" panose="02040502050405090303" charset="0"/>
                </a:endParaRPr>
              </a:p>
              <a:p>
                <a:pPr marL="342900" indent="-342900">
                  <a:buFont typeface="Arial" panose="020B0704020202020204" pitchFamily="34" charset="0"/>
                  <a:buChar char="•"/>
                </a:pP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Test the existence of heterogeneous treatment effect</a:t>
                </a:r>
                <a:endParaRPr lang="en-US" sz="2000">
                  <a:latin typeface="Georgia Regular" panose="02040502050405090303" charset="0"/>
                  <a:cs typeface="Georgia Regular" panose="02040502050405090303" charset="0"/>
                </a:endParaRPr>
              </a:p>
              <a:p>
                <a:pPr indent="0">
                  <a:buFont typeface="Arial" panose="020B0704020202020204" pitchFamily="34" charset="0"/>
                  <a:buNone/>
                </a:pP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  </a:t>
                </a:r>
                <a:endParaRPr lang="en-US" sz="2000">
                  <a:latin typeface="Georgia Regular" panose="02040502050405090303" charset="0"/>
                  <a:cs typeface="Georgia Regular" panose="02040502050405090303" charset="0"/>
                </a:endParaRPr>
              </a:p>
              <a:p>
                <a:pPr indent="0">
                  <a:buFont typeface="Arial" panose="020B0704020202020204" pitchFamily="34" charset="0"/>
                  <a:buNone/>
                </a:pP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  <a:sym typeface="+mn-ea"/>
                  </a:rPr>
                  <a:t>      </a:t>
                </a: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  <a:sym typeface="+mn-ea"/>
                  </a:rPr>
                  <a:t>H0: μ(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  <a:sym typeface="+mn-ea"/>
                  </a:rPr>
                  <a:t>(X)</a:t>
                </a: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  <a:sym typeface="+mn-ea"/>
                  </a:rPr>
                  <a:t>) = 0 and Var(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  <a:sym typeface="+mn-ea"/>
                  </a:rPr>
                  <a:t>(X)</a:t>
                </a: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  <a:sym typeface="+mn-ea"/>
                  </a:rPr>
                  <a:t>) = 0</a:t>
                </a:r>
                <a:endParaRPr lang="en-US" sz="2000">
                  <a:latin typeface="Georgia Regular" panose="02040502050405090303" charset="0"/>
                  <a:cs typeface="Georgia Regular" panose="02040502050405090303" charset="0"/>
                  <a:sym typeface="+mn-ea"/>
                </a:endParaRPr>
              </a:p>
              <a:p>
                <a:pPr indent="0">
                  <a:buFont typeface="Arial" panose="020B0704020202020204" pitchFamily="34" charset="0"/>
                  <a:buNone/>
                </a:pPr>
                <a:endParaRPr lang="en-US" sz="2000">
                  <a:latin typeface="Georgia Regular" panose="02040502050405090303" charset="0"/>
                  <a:cs typeface="Georgia Regular" panose="02040502050405090303" charset="0"/>
                  <a:sym typeface="+mn-ea"/>
                </a:endParaRPr>
              </a:p>
              <a:p>
                <a:pPr indent="0">
                  <a:buFont typeface="Arial" panose="020B0704020202020204" pitchFamily="34" charset="0"/>
                </a:pP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     Score Test / Permutation for testing</a:t>
                </a:r>
                <a:endParaRPr lang="en-US" sz="2000">
                  <a:latin typeface="Georgia Regular" panose="02040502050405090303" charset="0"/>
                  <a:cs typeface="Georgia Regular" panose="02040502050405090303" charset="0"/>
                </a:endParaRPr>
              </a:p>
              <a:p>
                <a:pPr indent="0">
                  <a:buFont typeface="Arial" panose="020B0704020202020204" pitchFamily="34" charset="0"/>
                  <a:buNone/>
                </a:pPr>
                <a:endParaRPr lang="en-US" sz="2000">
                  <a:latin typeface="Georgia Regular" panose="02040502050405090303" charset="0"/>
                  <a:cs typeface="Georgia Regular" panose="02040502050405090303" charset="0"/>
                </a:endParaRPr>
              </a:p>
              <a:p>
                <a:pPr indent="0">
                  <a:buFont typeface="Arial" panose="020B0704020202020204" pitchFamily="34" charset="0"/>
                  <a:buChar char="•"/>
                </a:pPr>
                <a:r>
                  <a:rPr lang="en-US" sz="2000">
                    <a:latin typeface="Georgia Regular" panose="02040502050405090303" charset="0"/>
                    <a:cs typeface="Georgia Regular" panose="02040502050405090303" charset="0"/>
                  </a:rPr>
                  <a:t>    Give clinical suggestions based on the characteristics of each patient</a:t>
                </a:r>
                <a:endParaRPr lang="en-US" sz="2000">
                  <a:latin typeface="Georgia Regular" panose="02040502050405090303" charset="0"/>
                  <a:cs typeface="Georgia Regular" panose="02040502050405090303" charset="0"/>
                </a:endParaRPr>
              </a:p>
            </p:txBody>
          </p:sp>
        </mc:Choice>
        <mc:Fallback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290" y="1644015"/>
                <a:ext cx="9471025" cy="28613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3373532" y="706532"/>
            <a:ext cx="5444936" cy="544493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24768" y="3044643"/>
            <a:ext cx="194246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Thanks</a:t>
            </a:r>
            <a:endParaRPr lang="en-US" altLang="zh-CN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"/>
          <p:cNvSpPr/>
          <p:nvPr/>
        </p:nvSpPr>
        <p:spPr>
          <a:xfrm>
            <a:off x="670504" y="798291"/>
            <a:ext cx="331470" cy="30670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400" dirty="0">
                <a:solidFill>
                  <a:schemeClr val="bg1"/>
                </a:solidFill>
              </a:rPr>
              <a:t> 5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62075" y="7581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Reference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77290" y="1218565"/>
            <a:ext cx="1073213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Cintron, D. W., Adler, N. E., Gottlieb, L. M., Hagan, E., Tan, M. L., Vlahov, D., Glymour, M. M.,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and Matthay, E. C. (2022). Heterogeneous treatment effects in social policy studies: An assessment of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contemporary articles in the health and social sciences. Annals of Epidemiology, 70:79–88.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Dicker, L. H. (2012). Residual variance and the signal-to-noise ratio in high-dimensional linear models. arXiv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preprint arXiv:1209.0012.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Farag´o, A. and Lugosi, G. (1993). Strong universal consistency of neural network classifiers. IEEE Transac-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tions on Information Theory, 39(4):1146–1151.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Force, S. D., Kilgo, P., Neujahr, D. C., Pelaez, A., Pickens, A., Fernandez, F. G., Miller, D. L., and Lawrence,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C. (2011). Bilateral lung transplantation offers better long-term survival, compared with single-lung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transplantation, for younger patients with idiopathic pulmonary fibrosis. Annals of Thoracic Surgery,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91(1):244–249.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Franklin, J. M., Eddings, W., Glynn, R. J., and Schneeweiss, S. (2015). Regularized regression versus the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high-dimensional propensity score for confounding adjustment in secondary database analyses. American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Journal of Epidemiology, 182(7):651.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27735" y="613410"/>
            <a:ext cx="1070737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Friedman, J. H. (1991). Multivariate adaptive regression splines. The Annals of Statistics, 19(1):1–67.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Friedman, J. H. (2001). Greedy function approximation: A gradient boosting machine. Annals of statistics,29(5):1189–1232.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Hahn, P. R., Murray, J. S., and Carvalho, C. M. (2020). Bayesian regression tree models for causal inference:Regularization, confounding, and heterogeneous effects. Bayesian Analysis, 15(3):965–1056.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Hornik, K., Stinchcombe, M., and White, H. (1989). Multilayer feedforward networks are universal approximators. Neural Networks, 2(5):359–366.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Kent, D. M., Steyerberg, E., and David, v. K. (2018). Personalized evidence based medicine: predictive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approaches to heterogeneous treatment effects. BMJ : British Medical Journal (Online), 363.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Koch, B., Vock, D. M., and Wolfson, J. (2018). Covariate selection with group lasso and doubly robust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estimation of causal effects. Biometrics, 74(1):8–17.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K¨unzel, S. R., Sekhon, J. S., Bickel, P. J., and Yu, B. (2019). Metalearners for estimating heterogeneous treatment effects using machine learning. Proceedings of the National Academy of Sciences, 116(10):4156–4165.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1"/>
          <p:cNvSpPr/>
          <p:nvPr/>
        </p:nvSpPr>
        <p:spPr>
          <a:xfrm rot="5400000">
            <a:off x="596087" y="713765"/>
            <a:ext cx="542138" cy="467360"/>
          </a:xfrm>
          <a:prstGeom prst="triangle">
            <a:avLst/>
          </a:prstGeom>
          <a:solidFill>
            <a:srgbClr val="768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2"/>
          <p:cNvSpPr/>
          <p:nvPr/>
        </p:nvSpPr>
        <p:spPr>
          <a:xfrm rot="5400000">
            <a:off x="672287" y="713765"/>
            <a:ext cx="542138" cy="467360"/>
          </a:xfrm>
          <a:prstGeom prst="triangle">
            <a:avLst/>
          </a:prstGeom>
          <a:noFill/>
          <a:ln w="57150">
            <a:solidFill>
              <a:srgbClr val="2A3E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3"/>
          <p:cNvSpPr/>
          <p:nvPr/>
        </p:nvSpPr>
        <p:spPr>
          <a:xfrm>
            <a:off x="670504" y="798291"/>
            <a:ext cx="331470" cy="30670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1400" dirty="0">
                <a:solidFill>
                  <a:schemeClr val="bg1"/>
                </a:solidFill>
              </a:rPr>
              <a:t> 6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22070" y="7581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Supplementary</a:t>
            </a:r>
            <a:endParaRPr lang="en-US" sz="2400">
              <a:latin typeface="Georgia Regular" panose="02040502050405090303" charset="0"/>
              <a:cs typeface="Georgia Regular" panose="02040502050405090303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02030" y="1983105"/>
            <a:ext cx="4260215" cy="2920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sz="2400">
                <a:latin typeface="Times New Roman Regular" panose="02020603050405020304" charset="0"/>
                <a:cs typeface="Times New Roman Regular" panose="02020603050405020304" charset="0"/>
              </a:rPr>
              <a:t>26 Confounders selected by  </a:t>
            </a:r>
            <a:endParaRPr lang="en-US" sz="24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lang="en-US" sz="2400">
                <a:latin typeface="Times New Roman Regular" panose="02020603050405020304" charset="0"/>
                <a:cs typeface="Times New Roman Regular" panose="02020603050405020304" charset="0"/>
              </a:rPr>
              <a:t>Group Lasso and Doubly Robust Estimation (Koch et al., 2018)</a:t>
            </a:r>
            <a:endParaRPr lang="en-US" sz="24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2245" y="518795"/>
            <a:ext cx="5913120" cy="5782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5092</Words>
  <Application>WPS Writer</Application>
  <PresentationFormat>Widescreen</PresentationFormat>
  <Paragraphs>226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7" baseType="lpstr">
      <vt:lpstr>Arial</vt:lpstr>
      <vt:lpstr>SimSun</vt:lpstr>
      <vt:lpstr>Wingdings</vt:lpstr>
      <vt:lpstr>Apple LiSung</vt:lpstr>
      <vt:lpstr>Georgia Regular</vt:lpstr>
      <vt:lpstr>STSong</vt:lpstr>
      <vt:lpstr>微软雅黑 Light</vt:lpstr>
      <vt:lpstr>黑体-简</vt:lpstr>
      <vt:lpstr>Wingdings</vt:lpstr>
      <vt:lpstr>Georgia</vt:lpstr>
      <vt:lpstr>Batang</vt:lpstr>
      <vt:lpstr>Apple SD Gothic Neo</vt:lpstr>
      <vt:lpstr>DejaVu Math TeX Gyre</vt:lpstr>
      <vt:lpstr>Cambria Math</vt:lpstr>
      <vt:lpstr>Kingsoft Math</vt:lpstr>
      <vt:lpstr>Calibri</vt:lpstr>
      <vt:lpstr>Helvetica Neue</vt:lpstr>
      <vt:lpstr>Microsoft YaHei</vt:lpstr>
      <vt:lpstr>汉仪旗黑</vt:lpstr>
      <vt:lpstr>Arial Unicode MS</vt:lpstr>
      <vt:lpstr>Cordia New</vt:lpstr>
      <vt:lpstr>苹方-简</vt:lpstr>
      <vt:lpstr>宋体-简</vt:lpstr>
      <vt:lpstr>SimSun</vt:lpstr>
      <vt:lpstr>Times New Roman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uying</dc:creator>
  <cp:lastModifiedBy>Yuan Max</cp:lastModifiedBy>
  <cp:revision>58</cp:revision>
  <dcterms:created xsi:type="dcterms:W3CDTF">2025-04-23T15:32:11Z</dcterms:created>
  <dcterms:modified xsi:type="dcterms:W3CDTF">2025-04-23T15:32:11Z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1033-6.10.2.8397</vt:lpwstr>
  </property>
  <property fmtid="{D5CDD505-2E9C-101B-9397-08002B2CF9AE}" pid="3" name="ICV">
    <vt:lpwstr>EE59A8E1A46A3318F1B0026886EEFE07_43</vt:lpwstr>
  </property>
</Properties>
</file>